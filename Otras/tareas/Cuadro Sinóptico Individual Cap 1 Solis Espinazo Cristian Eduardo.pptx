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37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3" autoAdjust="0"/>
    <p:restoredTop sz="94660"/>
  </p:normalViewPr>
  <p:slideViewPr>
    <p:cSldViewPr snapToGrid="0">
      <p:cViewPr varScale="1">
        <p:scale>
          <a:sx n="83" d="100"/>
          <a:sy n="83" d="100"/>
        </p:scale>
        <p:origin x="77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 /><Relationship Id="rId3" Type="http://schemas.openxmlformats.org/officeDocument/2006/relationships/customXml" Target="../customXml/item3.xml" /><Relationship Id="rId7" Type="http://schemas.openxmlformats.org/officeDocument/2006/relationships/slide" Target="slides/slide3.xml" /><Relationship Id="rId12" Type="http://schemas.microsoft.com/office/2016/11/relationships/changesInfo" Target="changesInfos/changesInfo1.xml" /><Relationship Id="rId2" Type="http://schemas.openxmlformats.org/officeDocument/2006/relationships/customXml" Target="../customXml/item2.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tableStyles" Target="tableStyles.xml" /><Relationship Id="rId5" Type="http://schemas.openxmlformats.org/officeDocument/2006/relationships/slide" Target="slides/slide1.xml" /><Relationship Id="rId10" Type="http://schemas.openxmlformats.org/officeDocument/2006/relationships/theme" Target="theme/theme1.xml" /><Relationship Id="rId4" Type="http://schemas.openxmlformats.org/officeDocument/2006/relationships/slideMaster" Target="slideMasters/slideMaster1.xml" /><Relationship Id="rId9" Type="http://schemas.openxmlformats.org/officeDocument/2006/relationships/viewProps" Target="viewProps.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an Eduardo Solis Espinoza" userId="0ae7eff1-3f6b-4b1a-9dc6-e19848f5f414" providerId="ADAL" clId="{856E8FFE-53E6-5E41-9ECC-CC4F22E2BF81}"/>
    <pc:docChg chg="modSld">
      <pc:chgData name="Cristian Eduardo Solis Espinoza" userId="0ae7eff1-3f6b-4b1a-9dc6-e19848f5f414" providerId="ADAL" clId="{856E8FFE-53E6-5E41-9ECC-CC4F22E2BF81}" dt="2025-09-12T15:40:11.168" v="38" actId="20577"/>
      <pc:docMkLst>
        <pc:docMk/>
      </pc:docMkLst>
      <pc:sldChg chg="modSp">
        <pc:chgData name="Cristian Eduardo Solis Espinoza" userId="0ae7eff1-3f6b-4b1a-9dc6-e19848f5f414" providerId="ADAL" clId="{856E8FFE-53E6-5E41-9ECC-CC4F22E2BF81}" dt="2025-09-12T15:40:11.168" v="38" actId="20577"/>
        <pc:sldMkLst>
          <pc:docMk/>
          <pc:sldMk cId="3299916385" sldId="256"/>
        </pc:sldMkLst>
        <pc:spChg chg="mod">
          <ac:chgData name="Cristian Eduardo Solis Espinoza" userId="0ae7eff1-3f6b-4b1a-9dc6-e19848f5f414" providerId="ADAL" clId="{856E8FFE-53E6-5E41-9ECC-CC4F22E2BF81}" dt="2025-09-12T15:39:41.630" v="21" actId="20577"/>
          <ac:spMkLst>
            <pc:docMk/>
            <pc:sldMk cId="3299916385" sldId="256"/>
            <ac:spMk id="48" creationId="{A7C4C2FC-84FD-EF20-ACDD-082F96854033}"/>
          </ac:spMkLst>
        </pc:spChg>
        <pc:spChg chg="mod">
          <ac:chgData name="Cristian Eduardo Solis Espinoza" userId="0ae7eff1-3f6b-4b1a-9dc6-e19848f5f414" providerId="ADAL" clId="{856E8FFE-53E6-5E41-9ECC-CC4F22E2BF81}" dt="2025-09-12T15:40:11.168" v="38" actId="20577"/>
          <ac:spMkLst>
            <pc:docMk/>
            <pc:sldMk cId="3299916385" sldId="256"/>
            <ac:spMk id="53" creationId="{22653B49-A3B9-090C-56AB-5E3C70C23239}"/>
          </ac:spMkLst>
        </pc:spChg>
      </pc:sldChg>
      <pc:sldChg chg="modSp">
        <pc:chgData name="Cristian Eduardo Solis Espinoza" userId="0ae7eff1-3f6b-4b1a-9dc6-e19848f5f414" providerId="ADAL" clId="{856E8FFE-53E6-5E41-9ECC-CC4F22E2BF81}" dt="2025-09-12T15:39:00.064" v="1" actId="1076"/>
        <pc:sldMkLst>
          <pc:docMk/>
          <pc:sldMk cId="3461900522" sldId="258"/>
        </pc:sldMkLst>
        <pc:spChg chg="mod">
          <ac:chgData name="Cristian Eduardo Solis Espinoza" userId="0ae7eff1-3f6b-4b1a-9dc6-e19848f5f414" providerId="ADAL" clId="{856E8FFE-53E6-5E41-9ECC-CC4F22E2BF81}" dt="2025-09-12T15:39:00.064" v="1" actId="1076"/>
          <ac:spMkLst>
            <pc:docMk/>
            <pc:sldMk cId="3461900522" sldId="258"/>
            <ac:spMk id="36" creationId="{06CD1F0F-968C-69D4-65EC-5874191D425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976F60F-FEA3-47AE-9F8D-5D8D1E9F85B6}" type="datetimeFigureOut">
              <a:rPr lang="es-MX" smtClean="0"/>
              <a:t>12/09/2025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661237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76F60F-FEA3-47AE-9F8D-5D8D1E9F85B6}" type="datetimeFigureOut">
              <a:rPr lang="es-MX" smtClean="0"/>
              <a:t>12/09/2025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991637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976F60F-FEA3-47AE-9F8D-5D8D1E9F85B6}" type="datetimeFigureOut">
              <a:rPr lang="es-MX" smtClean="0"/>
              <a:t>12/09/2025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3267075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976F60F-FEA3-47AE-9F8D-5D8D1E9F85B6}" type="datetimeFigureOut">
              <a:rPr lang="es-MX" smtClean="0"/>
              <a:t>12/09/2025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4066770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976F60F-FEA3-47AE-9F8D-5D8D1E9F85B6}" type="datetimeFigureOut">
              <a:rPr lang="es-MX" smtClean="0"/>
              <a:t>12/09/2025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2157360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976F60F-FEA3-47AE-9F8D-5D8D1E9F85B6}" type="datetimeFigureOut">
              <a:rPr lang="es-MX" smtClean="0"/>
              <a:t>12/09/2025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3918716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6F60F-FEA3-47AE-9F8D-5D8D1E9F85B6}" type="datetimeFigureOut">
              <a:rPr lang="es-MX" smtClean="0"/>
              <a:t>12/09/2025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674157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976F60F-FEA3-47AE-9F8D-5D8D1E9F85B6}" type="datetimeFigureOut">
              <a:rPr lang="es-MX" smtClean="0"/>
              <a:t>12/09/2025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525033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976F60F-FEA3-47AE-9F8D-5D8D1E9F85B6}" type="datetimeFigureOut">
              <a:rPr lang="es-MX" smtClean="0"/>
              <a:t>12/09/2025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1264767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76F60F-FEA3-47AE-9F8D-5D8D1E9F85B6}" type="datetimeFigureOut">
              <a:rPr lang="es-MX" smtClean="0"/>
              <a:t>12/09/2025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3054866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76F60F-FEA3-47AE-9F8D-5D8D1E9F85B6}" type="datetimeFigureOut">
              <a:rPr lang="es-MX" smtClean="0"/>
              <a:t>12/09/2025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8783E3CD-1F58-4054-BB2D-2CD2814BFCDF}" type="slidenum">
              <a:rPr lang="es-MX" smtClean="0"/>
              <a:t>‹Nº›</a:t>
            </a:fld>
            <a:endParaRPr lang="es-MX"/>
          </a:p>
        </p:txBody>
      </p:sp>
    </p:spTree>
    <p:extLst>
      <p:ext uri="{BB962C8B-B14F-4D97-AF65-F5344CB8AC3E}">
        <p14:creationId xmlns:p14="http://schemas.microsoft.com/office/powerpoint/2010/main" val="2180190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0976F60F-FEA3-47AE-9F8D-5D8D1E9F85B6}" type="datetimeFigureOut">
              <a:rPr lang="es-MX" smtClean="0"/>
              <a:t>12/09/2025</a:t>
            </a:fld>
            <a:endParaRPr lang="es-MX"/>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s-MX"/>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8783E3CD-1F58-4054-BB2D-2CD2814BFCDF}" type="slidenum">
              <a:rPr lang="es-MX" smtClean="0"/>
              <a:t>‹Nº›</a:t>
            </a:fld>
            <a:endParaRPr lang="es-MX"/>
          </a:p>
        </p:txBody>
      </p:sp>
    </p:spTree>
    <p:extLst>
      <p:ext uri="{BB962C8B-B14F-4D97-AF65-F5344CB8AC3E}">
        <p14:creationId xmlns:p14="http://schemas.microsoft.com/office/powerpoint/2010/main" val="215399067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7619BBD-3445-0E80-1972-8F5867836F2C}"/>
              </a:ext>
            </a:extLst>
          </p:cNvPr>
          <p:cNvSpPr txBox="1"/>
          <p:nvPr/>
        </p:nvSpPr>
        <p:spPr>
          <a:xfrm>
            <a:off x="123826" y="3290500"/>
            <a:ext cx="1009650" cy="276999"/>
          </a:xfrm>
          <a:prstGeom prst="rect">
            <a:avLst/>
          </a:prstGeom>
          <a:noFill/>
        </p:spPr>
        <p:txBody>
          <a:bodyPr wrap="square" rtlCol="0">
            <a:spAutoFit/>
          </a:bodyPr>
          <a:lstStyle/>
          <a:p>
            <a:pPr algn="ctr"/>
            <a:r>
              <a:rPr lang="es-MX" sz="1200" dirty="0">
                <a:latin typeface="Bauhaus 93" panose="04030905020B02020C02" pitchFamily="82" charset="0"/>
                <a:cs typeface="Aharoni" panose="02010803020104030203" pitchFamily="2" charset="-79"/>
              </a:rPr>
              <a:t>Capitulo 1</a:t>
            </a:r>
          </a:p>
        </p:txBody>
      </p:sp>
      <p:sp>
        <p:nvSpPr>
          <p:cNvPr id="5" name="Abrir llave 4">
            <a:extLst>
              <a:ext uri="{FF2B5EF4-FFF2-40B4-BE49-F238E27FC236}">
                <a16:creationId xmlns:a16="http://schemas.microsoft.com/office/drawing/2014/main" id="{9842F625-B918-D243-5334-47B293AC535C}"/>
              </a:ext>
            </a:extLst>
          </p:cNvPr>
          <p:cNvSpPr>
            <a:spLocks/>
          </p:cNvSpPr>
          <p:nvPr/>
        </p:nvSpPr>
        <p:spPr>
          <a:xfrm>
            <a:off x="1047754" y="542926"/>
            <a:ext cx="257170" cy="5772148"/>
          </a:xfrm>
          <a:prstGeom prst="leftBrace">
            <a:avLst/>
          </a:pr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6" name="CuadroTexto 5">
            <a:extLst>
              <a:ext uri="{FF2B5EF4-FFF2-40B4-BE49-F238E27FC236}">
                <a16:creationId xmlns:a16="http://schemas.microsoft.com/office/drawing/2014/main" id="{7B6CA26E-3655-4DE2-0E3E-F9D97A88D3D2}"/>
              </a:ext>
            </a:extLst>
          </p:cNvPr>
          <p:cNvSpPr txBox="1"/>
          <p:nvPr/>
        </p:nvSpPr>
        <p:spPr>
          <a:xfrm>
            <a:off x="1304924" y="606740"/>
            <a:ext cx="2219321" cy="261610"/>
          </a:xfrm>
          <a:prstGeom prst="rect">
            <a:avLst/>
          </a:prstGeom>
          <a:noFill/>
        </p:spPr>
        <p:txBody>
          <a:bodyPr wrap="square" rtlCol="0">
            <a:spAutoFit/>
          </a:bodyPr>
          <a:lstStyle/>
          <a:p>
            <a:r>
              <a:rPr lang="es-ES" sz="1100" dirty="0">
                <a:solidFill>
                  <a:schemeClr val="accent1">
                    <a:lumMod val="60000"/>
                    <a:lumOff val="40000"/>
                  </a:schemeClr>
                </a:solidFill>
                <a:latin typeface="Bauhaus 93" panose="04030905020B02020C02" pitchFamily="82" charset="0"/>
                <a:cs typeface="Aharoni" panose="02010803020104030203" pitchFamily="2" charset="-79"/>
              </a:rPr>
              <a:t>Propósito de la Guía del PMBOK</a:t>
            </a:r>
            <a:endParaRPr lang="es-MX" sz="1100" dirty="0">
              <a:solidFill>
                <a:schemeClr val="accent1">
                  <a:lumMod val="60000"/>
                  <a:lumOff val="40000"/>
                </a:schemeClr>
              </a:solidFill>
              <a:latin typeface="Bauhaus 93" panose="04030905020B02020C02" pitchFamily="82" charset="0"/>
              <a:cs typeface="Aharoni" panose="02010803020104030203" pitchFamily="2" charset="-79"/>
            </a:endParaRPr>
          </a:p>
        </p:txBody>
      </p:sp>
      <p:sp>
        <p:nvSpPr>
          <p:cNvPr id="7" name="CuadroTexto 6">
            <a:extLst>
              <a:ext uri="{FF2B5EF4-FFF2-40B4-BE49-F238E27FC236}">
                <a16:creationId xmlns:a16="http://schemas.microsoft.com/office/drawing/2014/main" id="{62369451-3142-0D3B-B161-723E788B0FB8}"/>
              </a:ext>
            </a:extLst>
          </p:cNvPr>
          <p:cNvSpPr txBox="1"/>
          <p:nvPr/>
        </p:nvSpPr>
        <p:spPr>
          <a:xfrm>
            <a:off x="1319199" y="3378026"/>
            <a:ext cx="1609725" cy="261610"/>
          </a:xfrm>
          <a:prstGeom prst="rect">
            <a:avLst/>
          </a:prstGeom>
          <a:noFill/>
        </p:spPr>
        <p:txBody>
          <a:bodyPr wrap="square" rtlCol="0">
            <a:spAutoFit/>
          </a:bodyPr>
          <a:lstStyle/>
          <a:p>
            <a:r>
              <a:rPr lang="es-ES" sz="1100" dirty="0">
                <a:solidFill>
                  <a:srgbClr val="FFC000"/>
                </a:solidFill>
                <a:latin typeface="Bauhaus 93" panose="04030905020B02020C02" pitchFamily="82" charset="0"/>
                <a:cs typeface="Aharoni" panose="02010803020104030203" pitchFamily="2" charset="-79"/>
              </a:rPr>
              <a:t>¿Qué es un Proyecto?</a:t>
            </a:r>
            <a:endParaRPr lang="es-MX" sz="1100" dirty="0">
              <a:solidFill>
                <a:srgbClr val="FFC000"/>
              </a:solidFill>
              <a:latin typeface="Bauhaus 93" panose="04030905020B02020C02" pitchFamily="82" charset="0"/>
              <a:cs typeface="Aharoni" panose="02010803020104030203" pitchFamily="2" charset="-79"/>
            </a:endParaRPr>
          </a:p>
        </p:txBody>
      </p:sp>
      <p:sp>
        <p:nvSpPr>
          <p:cNvPr id="8" name="CuadroTexto 7">
            <a:extLst>
              <a:ext uri="{FF2B5EF4-FFF2-40B4-BE49-F238E27FC236}">
                <a16:creationId xmlns:a16="http://schemas.microsoft.com/office/drawing/2014/main" id="{E59F89BF-62E8-1BE1-AD55-71D785726948}"/>
              </a:ext>
            </a:extLst>
          </p:cNvPr>
          <p:cNvSpPr txBox="1"/>
          <p:nvPr/>
        </p:nvSpPr>
        <p:spPr>
          <a:xfrm>
            <a:off x="1304924" y="5488514"/>
            <a:ext cx="2419349" cy="261610"/>
          </a:xfrm>
          <a:prstGeom prst="rect">
            <a:avLst/>
          </a:prstGeom>
          <a:noFill/>
        </p:spPr>
        <p:txBody>
          <a:bodyPr wrap="square" rtlCol="0">
            <a:spAutoFit/>
          </a:bodyPr>
          <a:lstStyle/>
          <a:p>
            <a:r>
              <a:rPr lang="es-ES" sz="1100" dirty="0">
                <a:solidFill>
                  <a:srgbClr val="00B050"/>
                </a:solidFill>
                <a:latin typeface="Bauhaus 93" panose="04030905020B02020C02" pitchFamily="82" charset="0"/>
                <a:cs typeface="Aharoni" panose="02010803020104030203" pitchFamily="2" charset="-79"/>
              </a:rPr>
              <a:t>¿Qué es la Dirección de Proyectos?</a:t>
            </a:r>
            <a:endParaRPr lang="es-MX" sz="1100" dirty="0">
              <a:solidFill>
                <a:srgbClr val="00B050"/>
              </a:solidFill>
              <a:latin typeface="Bauhaus 93" panose="04030905020B02020C02" pitchFamily="82" charset="0"/>
              <a:cs typeface="Aharoni" panose="02010803020104030203" pitchFamily="2" charset="-79"/>
            </a:endParaRPr>
          </a:p>
        </p:txBody>
      </p:sp>
      <p:sp>
        <p:nvSpPr>
          <p:cNvPr id="14" name="Abrir llave 13">
            <a:extLst>
              <a:ext uri="{FF2B5EF4-FFF2-40B4-BE49-F238E27FC236}">
                <a16:creationId xmlns:a16="http://schemas.microsoft.com/office/drawing/2014/main" id="{C8F5070D-B694-2D15-CC68-CFA8E7D3921E}"/>
              </a:ext>
            </a:extLst>
          </p:cNvPr>
          <p:cNvSpPr/>
          <p:nvPr/>
        </p:nvSpPr>
        <p:spPr>
          <a:xfrm>
            <a:off x="3490907" y="76064"/>
            <a:ext cx="323854" cy="2149410"/>
          </a:xfrm>
          <a:prstGeom prst="leftBrace">
            <a:avLst>
              <a:gd name="adj1" fmla="val 8333"/>
              <a:gd name="adj2" fmla="val 30058"/>
            </a:avLst>
          </a:prstGeom>
          <a:noFill/>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5" name="CuadroTexto 14">
            <a:extLst>
              <a:ext uri="{FF2B5EF4-FFF2-40B4-BE49-F238E27FC236}">
                <a16:creationId xmlns:a16="http://schemas.microsoft.com/office/drawing/2014/main" id="{ADC3BABA-1671-34FF-26F3-AA0E77DD6DE7}"/>
              </a:ext>
            </a:extLst>
          </p:cNvPr>
          <p:cNvSpPr txBox="1"/>
          <p:nvPr/>
        </p:nvSpPr>
        <p:spPr>
          <a:xfrm>
            <a:off x="3757605" y="200740"/>
            <a:ext cx="1490670" cy="400110"/>
          </a:xfrm>
          <a:prstGeom prst="rect">
            <a:avLst/>
          </a:prstGeom>
          <a:noFill/>
        </p:spPr>
        <p:txBody>
          <a:bodyPr wrap="square" rtlCol="0">
            <a:spAutoFit/>
          </a:bodyPr>
          <a:lstStyle/>
          <a:p>
            <a:r>
              <a:rPr lang="es-ES" sz="1000" dirty="0">
                <a:solidFill>
                  <a:srgbClr val="00B0F0"/>
                </a:solidFill>
                <a:latin typeface="Times New Roman" panose="02020603050405020304" pitchFamily="18" charset="0"/>
                <a:cs typeface="Times New Roman" panose="02020603050405020304" pitchFamily="18" charset="0"/>
              </a:rPr>
              <a:t> Identifica fundamentos y buenas prácticas</a:t>
            </a:r>
            <a:endParaRPr lang="es-MX" sz="1000" dirty="0">
              <a:solidFill>
                <a:srgbClr val="00B0F0"/>
              </a:solidFill>
              <a:latin typeface="Times New Roman" panose="02020603050405020304" pitchFamily="18" charset="0"/>
              <a:cs typeface="Times New Roman" panose="02020603050405020304" pitchFamily="18" charset="0"/>
            </a:endParaRPr>
          </a:p>
        </p:txBody>
      </p:sp>
      <p:sp>
        <p:nvSpPr>
          <p:cNvPr id="16" name="CuadroTexto 15">
            <a:extLst>
              <a:ext uri="{FF2B5EF4-FFF2-40B4-BE49-F238E27FC236}">
                <a16:creationId xmlns:a16="http://schemas.microsoft.com/office/drawing/2014/main" id="{75823883-DB40-BA59-0934-3CE075D6F9D7}"/>
              </a:ext>
            </a:extLst>
          </p:cNvPr>
          <p:cNvSpPr txBox="1"/>
          <p:nvPr/>
        </p:nvSpPr>
        <p:spPr>
          <a:xfrm>
            <a:off x="3833818" y="791182"/>
            <a:ext cx="1604957" cy="400110"/>
          </a:xfrm>
          <a:prstGeom prst="rect">
            <a:avLst/>
          </a:prstGeom>
          <a:noFill/>
        </p:spPr>
        <p:txBody>
          <a:bodyPr wrap="square" rtlCol="0">
            <a:spAutoFit/>
          </a:bodyPr>
          <a:lstStyle/>
          <a:p>
            <a:r>
              <a:rPr lang="es-ES" sz="1000" dirty="0">
                <a:solidFill>
                  <a:srgbClr val="00B0F0"/>
                </a:solidFill>
                <a:latin typeface="Times New Roman" panose="02020603050405020304" pitchFamily="18" charset="0"/>
                <a:cs typeface="Times New Roman" panose="02020603050405020304" pitchFamily="18" charset="0"/>
              </a:rPr>
              <a:t>Promueve un vocabulario común</a:t>
            </a:r>
            <a:endParaRPr lang="es-MX" sz="1000" dirty="0">
              <a:solidFill>
                <a:srgbClr val="00B0F0"/>
              </a:solidFill>
              <a:latin typeface="Times New Roman" panose="02020603050405020304" pitchFamily="18" charset="0"/>
              <a:cs typeface="Times New Roman" panose="02020603050405020304" pitchFamily="18" charset="0"/>
            </a:endParaRPr>
          </a:p>
        </p:txBody>
      </p:sp>
      <p:sp>
        <p:nvSpPr>
          <p:cNvPr id="17" name="CuadroTexto 16">
            <a:extLst>
              <a:ext uri="{FF2B5EF4-FFF2-40B4-BE49-F238E27FC236}">
                <a16:creationId xmlns:a16="http://schemas.microsoft.com/office/drawing/2014/main" id="{72EA6B28-F82F-5060-FDEB-257A964B9835}"/>
              </a:ext>
            </a:extLst>
          </p:cNvPr>
          <p:cNvSpPr txBox="1"/>
          <p:nvPr/>
        </p:nvSpPr>
        <p:spPr>
          <a:xfrm>
            <a:off x="3833818" y="1385140"/>
            <a:ext cx="1604957" cy="400110"/>
          </a:xfrm>
          <a:prstGeom prst="rect">
            <a:avLst/>
          </a:prstGeom>
          <a:noFill/>
        </p:spPr>
        <p:txBody>
          <a:bodyPr wrap="square" rtlCol="0">
            <a:spAutoFit/>
          </a:bodyPr>
          <a:lstStyle/>
          <a:p>
            <a:r>
              <a:rPr lang="es-ES" sz="1000" dirty="0">
                <a:solidFill>
                  <a:srgbClr val="00B0F0"/>
                </a:solidFill>
                <a:latin typeface="Times New Roman" panose="02020603050405020304" pitchFamily="18" charset="0"/>
                <a:cs typeface="Times New Roman" panose="02020603050405020304" pitchFamily="18" charset="0"/>
              </a:rPr>
              <a:t>Se alinea con el Código de Ética del PMI</a:t>
            </a:r>
            <a:endParaRPr lang="es-MX" sz="1000" dirty="0">
              <a:solidFill>
                <a:srgbClr val="00B0F0"/>
              </a:solidFill>
              <a:latin typeface="Times New Roman" panose="02020603050405020304" pitchFamily="18" charset="0"/>
              <a:cs typeface="Times New Roman" panose="02020603050405020304" pitchFamily="18" charset="0"/>
            </a:endParaRPr>
          </a:p>
        </p:txBody>
      </p:sp>
      <p:sp>
        <p:nvSpPr>
          <p:cNvPr id="18" name="CuadroTexto 17">
            <a:extLst>
              <a:ext uri="{FF2B5EF4-FFF2-40B4-BE49-F238E27FC236}">
                <a16:creationId xmlns:a16="http://schemas.microsoft.com/office/drawing/2014/main" id="{181560B2-E108-2B0E-9750-93F486216900}"/>
              </a:ext>
            </a:extLst>
          </p:cNvPr>
          <p:cNvSpPr txBox="1"/>
          <p:nvPr/>
        </p:nvSpPr>
        <p:spPr>
          <a:xfrm>
            <a:off x="3814761" y="1982037"/>
            <a:ext cx="1824039" cy="246221"/>
          </a:xfrm>
          <a:prstGeom prst="rect">
            <a:avLst/>
          </a:prstGeom>
          <a:noFill/>
        </p:spPr>
        <p:txBody>
          <a:bodyPr wrap="square" rtlCol="0">
            <a:spAutoFit/>
          </a:bodyPr>
          <a:lstStyle/>
          <a:p>
            <a:r>
              <a:rPr lang="es-ES" sz="1000" dirty="0">
                <a:solidFill>
                  <a:srgbClr val="00B0F0"/>
                </a:solidFill>
                <a:latin typeface="Times New Roman" panose="02020603050405020304" pitchFamily="18" charset="0"/>
                <a:cs typeface="Times New Roman" panose="02020603050405020304" pitchFamily="18" charset="0"/>
              </a:rPr>
              <a:t> No es una metodología rígida</a:t>
            </a:r>
            <a:endParaRPr lang="es-MX" sz="1000" dirty="0">
              <a:solidFill>
                <a:srgbClr val="00B0F0"/>
              </a:solidFill>
              <a:latin typeface="Times New Roman" panose="02020603050405020304" pitchFamily="18" charset="0"/>
              <a:cs typeface="Times New Roman" panose="02020603050405020304" pitchFamily="18" charset="0"/>
            </a:endParaRPr>
          </a:p>
        </p:txBody>
      </p:sp>
      <p:sp>
        <p:nvSpPr>
          <p:cNvPr id="20" name="Abrir llave 19">
            <a:extLst>
              <a:ext uri="{FF2B5EF4-FFF2-40B4-BE49-F238E27FC236}">
                <a16:creationId xmlns:a16="http://schemas.microsoft.com/office/drawing/2014/main" id="{4747F266-4C43-A3EF-6C29-BF1D104FB630}"/>
              </a:ext>
            </a:extLst>
          </p:cNvPr>
          <p:cNvSpPr/>
          <p:nvPr/>
        </p:nvSpPr>
        <p:spPr>
          <a:xfrm>
            <a:off x="5610215" y="76064"/>
            <a:ext cx="257170" cy="530676"/>
          </a:xfrm>
          <a:prstGeom prst="leftBrace">
            <a:avLst/>
          </a:prstGeom>
          <a:noFill/>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2" name="CuadroTexto 21">
            <a:extLst>
              <a:ext uri="{FF2B5EF4-FFF2-40B4-BE49-F238E27FC236}">
                <a16:creationId xmlns:a16="http://schemas.microsoft.com/office/drawing/2014/main" id="{84D70EE9-8359-7B93-4B6E-A7DEE0B9F7CB}"/>
              </a:ext>
            </a:extLst>
          </p:cNvPr>
          <p:cNvSpPr txBox="1"/>
          <p:nvPr/>
        </p:nvSpPr>
        <p:spPr>
          <a:xfrm>
            <a:off x="5795948" y="56349"/>
            <a:ext cx="5991224"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Subconjunto de conocimientos y prácticas de la dirección de proyectos generalmente reconocidas y aplicables a la mayoría de los proyectos. La aplicación de estos conocimientos aumenta las posibilidades de éxito del proyecto.</a:t>
            </a:r>
            <a:endParaRPr lang="es-MX" sz="1000" dirty="0">
              <a:latin typeface="Times New Roman" panose="02020603050405020304" pitchFamily="18" charset="0"/>
              <a:cs typeface="Times New Roman" panose="02020603050405020304" pitchFamily="18" charset="0"/>
            </a:endParaRPr>
          </a:p>
        </p:txBody>
      </p:sp>
      <p:sp>
        <p:nvSpPr>
          <p:cNvPr id="23" name="Abrir llave 22">
            <a:extLst>
              <a:ext uri="{FF2B5EF4-FFF2-40B4-BE49-F238E27FC236}">
                <a16:creationId xmlns:a16="http://schemas.microsoft.com/office/drawing/2014/main" id="{34E94AA3-0415-B9F3-199E-2A8D569007D5}"/>
              </a:ext>
            </a:extLst>
          </p:cNvPr>
          <p:cNvSpPr/>
          <p:nvPr/>
        </p:nvSpPr>
        <p:spPr>
          <a:xfrm>
            <a:off x="5610241" y="672688"/>
            <a:ext cx="257170" cy="530676"/>
          </a:xfrm>
          <a:prstGeom prst="leftBrace">
            <a:avLst/>
          </a:prstGeom>
          <a:noFill/>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4" name="CuadroTexto 23">
            <a:extLst>
              <a:ext uri="{FF2B5EF4-FFF2-40B4-BE49-F238E27FC236}">
                <a16:creationId xmlns:a16="http://schemas.microsoft.com/office/drawing/2014/main" id="{1359B1AB-6CA3-0558-15FD-6941CD201E66}"/>
              </a:ext>
            </a:extLst>
          </p:cNvPr>
          <p:cNvSpPr txBox="1"/>
          <p:nvPr/>
        </p:nvSpPr>
        <p:spPr>
          <a:xfrm>
            <a:off x="5795948" y="732365"/>
            <a:ext cx="5991224" cy="400110"/>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Proporciona un vocabulario estándar para directores de proyecto, de programa, de portafolio y otros interesados; un vocabulario común es un elemento esencial en cualquier disciplina profesional.</a:t>
            </a:r>
            <a:endParaRPr lang="es-MX" sz="1000" dirty="0">
              <a:latin typeface="Times New Roman" panose="02020603050405020304" pitchFamily="18" charset="0"/>
              <a:cs typeface="Times New Roman" panose="02020603050405020304" pitchFamily="18" charset="0"/>
            </a:endParaRPr>
          </a:p>
        </p:txBody>
      </p:sp>
      <p:sp>
        <p:nvSpPr>
          <p:cNvPr id="25" name="Abrir llave 24">
            <a:extLst>
              <a:ext uri="{FF2B5EF4-FFF2-40B4-BE49-F238E27FC236}">
                <a16:creationId xmlns:a16="http://schemas.microsoft.com/office/drawing/2014/main" id="{DA2AFE9A-C27B-A7EA-C624-7A25FF4F80A6}"/>
              </a:ext>
            </a:extLst>
          </p:cNvPr>
          <p:cNvSpPr/>
          <p:nvPr/>
        </p:nvSpPr>
        <p:spPr>
          <a:xfrm>
            <a:off x="5610215" y="1263784"/>
            <a:ext cx="257170" cy="530676"/>
          </a:xfrm>
          <a:prstGeom prst="leftBrace">
            <a:avLst/>
          </a:prstGeom>
          <a:noFill/>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6" name="CuadroTexto 25">
            <a:extLst>
              <a:ext uri="{FF2B5EF4-FFF2-40B4-BE49-F238E27FC236}">
                <a16:creationId xmlns:a16="http://schemas.microsoft.com/office/drawing/2014/main" id="{79556007-ADDA-05FC-68B2-2F726F168DF1}"/>
              </a:ext>
            </a:extLst>
          </p:cNvPr>
          <p:cNvSpPr txBox="1"/>
          <p:nvPr/>
        </p:nvSpPr>
        <p:spPr>
          <a:xfrm>
            <a:off x="5795948" y="1276641"/>
            <a:ext cx="5991224"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Sirve de guía para los profesionales, describiendo expectativas de conducta ética y profesional. Cubre las obligaciones de responsabilidad, respeto, equidad y honestidad, la aceptación del código es un requisito para los exámenes de certificación del PMI.</a:t>
            </a:r>
            <a:endParaRPr lang="es-MX" sz="1000" dirty="0">
              <a:latin typeface="Times New Roman" panose="02020603050405020304" pitchFamily="18" charset="0"/>
              <a:cs typeface="Times New Roman" panose="02020603050405020304" pitchFamily="18" charset="0"/>
            </a:endParaRPr>
          </a:p>
        </p:txBody>
      </p:sp>
      <p:sp>
        <p:nvSpPr>
          <p:cNvPr id="27" name="Abrir llave 26">
            <a:extLst>
              <a:ext uri="{FF2B5EF4-FFF2-40B4-BE49-F238E27FC236}">
                <a16:creationId xmlns:a16="http://schemas.microsoft.com/office/drawing/2014/main" id="{5E3AD583-578C-CCC0-BD7A-8865A6939CB5}"/>
              </a:ext>
            </a:extLst>
          </p:cNvPr>
          <p:cNvSpPr/>
          <p:nvPr/>
        </p:nvSpPr>
        <p:spPr>
          <a:xfrm>
            <a:off x="5610215" y="1854880"/>
            <a:ext cx="257170" cy="530676"/>
          </a:xfrm>
          <a:prstGeom prst="leftBrace">
            <a:avLst/>
          </a:prstGeom>
          <a:noFill/>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8" name="CuadroTexto 27">
            <a:extLst>
              <a:ext uri="{FF2B5EF4-FFF2-40B4-BE49-F238E27FC236}">
                <a16:creationId xmlns:a16="http://schemas.microsoft.com/office/drawing/2014/main" id="{205460CA-E003-E2A7-C086-3309E03704E8}"/>
              </a:ext>
            </a:extLst>
          </p:cNvPr>
          <p:cNvSpPr txBox="1"/>
          <p:nvPr/>
        </p:nvSpPr>
        <p:spPr>
          <a:xfrm>
            <a:off x="5815005" y="1828148"/>
            <a:ext cx="5972167"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Es una guía, no una metodología específica, la organización y el equipo del proyecto son responsables de determinar qué prácticas son apropiadas para cada proyecto. Permite el uso de diferentes metodologías y herramientas (ej. ágil, cascada, PRINCE2) para implementar su marco.</a:t>
            </a:r>
            <a:endParaRPr lang="es-MX" sz="1000" dirty="0">
              <a:latin typeface="Times New Roman" panose="02020603050405020304" pitchFamily="18" charset="0"/>
              <a:cs typeface="Times New Roman" panose="02020603050405020304" pitchFamily="18" charset="0"/>
            </a:endParaRPr>
          </a:p>
        </p:txBody>
      </p:sp>
      <p:sp>
        <p:nvSpPr>
          <p:cNvPr id="29" name="Abrir llave 28">
            <a:extLst>
              <a:ext uri="{FF2B5EF4-FFF2-40B4-BE49-F238E27FC236}">
                <a16:creationId xmlns:a16="http://schemas.microsoft.com/office/drawing/2014/main" id="{A342C3BC-5C1D-AAC8-9308-2C641D813F0C}"/>
              </a:ext>
            </a:extLst>
          </p:cNvPr>
          <p:cNvSpPr/>
          <p:nvPr/>
        </p:nvSpPr>
        <p:spPr>
          <a:xfrm>
            <a:off x="2833682" y="2589281"/>
            <a:ext cx="323854" cy="1811660"/>
          </a:xfrm>
          <a:prstGeom prst="leftBrace">
            <a:avLst>
              <a:gd name="adj1" fmla="val 8333"/>
              <a:gd name="adj2" fmla="val 51550"/>
            </a:avLst>
          </a:prstGeom>
          <a:noFill/>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solidFill>
                <a:srgbClr val="FFC000"/>
              </a:solidFill>
            </a:endParaRPr>
          </a:p>
        </p:txBody>
      </p:sp>
      <p:sp>
        <p:nvSpPr>
          <p:cNvPr id="30" name="CuadroTexto 29">
            <a:extLst>
              <a:ext uri="{FF2B5EF4-FFF2-40B4-BE49-F238E27FC236}">
                <a16:creationId xmlns:a16="http://schemas.microsoft.com/office/drawing/2014/main" id="{A3647BD7-D0F0-900E-E374-0B729D45A0DC}"/>
              </a:ext>
            </a:extLst>
          </p:cNvPr>
          <p:cNvSpPr txBox="1"/>
          <p:nvPr/>
        </p:nvSpPr>
        <p:spPr>
          <a:xfrm>
            <a:off x="3100380" y="2655261"/>
            <a:ext cx="1919295" cy="246221"/>
          </a:xfrm>
          <a:prstGeom prst="rect">
            <a:avLst/>
          </a:prstGeom>
          <a:noFill/>
        </p:spPr>
        <p:txBody>
          <a:bodyPr wrap="square" rtlCol="0">
            <a:spAutoFit/>
          </a:bodyPr>
          <a:lstStyle/>
          <a:p>
            <a:r>
              <a:rPr lang="es-ES" sz="1000" dirty="0">
                <a:solidFill>
                  <a:srgbClr val="FFC000"/>
                </a:solidFill>
                <a:latin typeface="Times New Roman" panose="02020603050405020304" pitchFamily="18" charset="0"/>
                <a:cs typeface="Times New Roman" panose="02020603050405020304" pitchFamily="18" charset="0"/>
              </a:rPr>
              <a:t> Naturaleza temporal</a:t>
            </a:r>
            <a:endParaRPr lang="es-MX" sz="1000" dirty="0">
              <a:solidFill>
                <a:srgbClr val="FFC000"/>
              </a:solidFill>
              <a:latin typeface="Times New Roman" panose="02020603050405020304" pitchFamily="18" charset="0"/>
              <a:cs typeface="Times New Roman" panose="02020603050405020304" pitchFamily="18" charset="0"/>
            </a:endParaRPr>
          </a:p>
        </p:txBody>
      </p:sp>
      <p:sp>
        <p:nvSpPr>
          <p:cNvPr id="31" name="CuadroTexto 30">
            <a:extLst>
              <a:ext uri="{FF2B5EF4-FFF2-40B4-BE49-F238E27FC236}">
                <a16:creationId xmlns:a16="http://schemas.microsoft.com/office/drawing/2014/main" id="{4D5CC750-3C3A-476F-242A-C23E139A355F}"/>
              </a:ext>
            </a:extLst>
          </p:cNvPr>
          <p:cNvSpPr txBox="1"/>
          <p:nvPr/>
        </p:nvSpPr>
        <p:spPr>
          <a:xfrm>
            <a:off x="3157536" y="3356604"/>
            <a:ext cx="1776407" cy="246221"/>
          </a:xfrm>
          <a:prstGeom prst="rect">
            <a:avLst/>
          </a:prstGeom>
          <a:noFill/>
        </p:spPr>
        <p:txBody>
          <a:bodyPr wrap="square" rtlCol="0">
            <a:spAutoFit/>
          </a:bodyPr>
          <a:lstStyle/>
          <a:p>
            <a:r>
              <a:rPr lang="es-ES" sz="1000" dirty="0">
                <a:solidFill>
                  <a:srgbClr val="FFC000"/>
                </a:solidFill>
                <a:latin typeface="Times New Roman" panose="02020603050405020304" pitchFamily="18" charset="0"/>
                <a:cs typeface="Times New Roman" panose="02020603050405020304" pitchFamily="18" charset="0"/>
              </a:rPr>
              <a:t>Producto o resultado único</a:t>
            </a:r>
            <a:endParaRPr lang="es-MX" sz="1000" dirty="0">
              <a:solidFill>
                <a:srgbClr val="FFC000"/>
              </a:solidFill>
              <a:latin typeface="Times New Roman" panose="02020603050405020304" pitchFamily="18" charset="0"/>
              <a:cs typeface="Times New Roman" panose="02020603050405020304" pitchFamily="18" charset="0"/>
            </a:endParaRPr>
          </a:p>
        </p:txBody>
      </p:sp>
      <p:sp>
        <p:nvSpPr>
          <p:cNvPr id="32" name="CuadroTexto 31">
            <a:extLst>
              <a:ext uri="{FF2B5EF4-FFF2-40B4-BE49-F238E27FC236}">
                <a16:creationId xmlns:a16="http://schemas.microsoft.com/office/drawing/2014/main" id="{B582B7CF-AF89-45FC-A1D8-F84922A000CF}"/>
              </a:ext>
            </a:extLst>
          </p:cNvPr>
          <p:cNvSpPr txBox="1"/>
          <p:nvPr/>
        </p:nvSpPr>
        <p:spPr>
          <a:xfrm>
            <a:off x="3138504" y="3983270"/>
            <a:ext cx="1643057" cy="246221"/>
          </a:xfrm>
          <a:prstGeom prst="rect">
            <a:avLst/>
          </a:prstGeom>
          <a:noFill/>
        </p:spPr>
        <p:txBody>
          <a:bodyPr wrap="square" rtlCol="0">
            <a:spAutoFit/>
          </a:bodyPr>
          <a:lstStyle/>
          <a:p>
            <a:r>
              <a:rPr lang="es-ES" sz="1000" dirty="0">
                <a:solidFill>
                  <a:srgbClr val="FFC000"/>
                </a:solidFill>
                <a:latin typeface="Times New Roman" panose="02020603050405020304" pitchFamily="18" charset="0"/>
                <a:cs typeface="Times New Roman" panose="02020603050405020304" pitchFamily="18" charset="0"/>
              </a:rPr>
              <a:t>Tipos de resultados</a:t>
            </a:r>
            <a:endParaRPr lang="es-MX" sz="1000" dirty="0">
              <a:solidFill>
                <a:srgbClr val="FFC000"/>
              </a:solidFill>
              <a:latin typeface="Times New Roman" panose="02020603050405020304" pitchFamily="18" charset="0"/>
              <a:cs typeface="Times New Roman" panose="02020603050405020304" pitchFamily="18" charset="0"/>
            </a:endParaRPr>
          </a:p>
        </p:txBody>
      </p:sp>
      <p:sp>
        <p:nvSpPr>
          <p:cNvPr id="33" name="Abrir llave 32">
            <a:extLst>
              <a:ext uri="{FF2B5EF4-FFF2-40B4-BE49-F238E27FC236}">
                <a16:creationId xmlns:a16="http://schemas.microsoft.com/office/drawing/2014/main" id="{B0AD7839-BECB-CBBB-9F25-BA0E3B95559C}"/>
              </a:ext>
            </a:extLst>
          </p:cNvPr>
          <p:cNvSpPr/>
          <p:nvPr/>
        </p:nvSpPr>
        <p:spPr>
          <a:xfrm>
            <a:off x="4853033" y="3873598"/>
            <a:ext cx="257170" cy="530676"/>
          </a:xfrm>
          <a:prstGeom prst="leftBrace">
            <a:avLst/>
          </a:prstGeom>
          <a:noFill/>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34" name="Abrir llave 33">
            <a:extLst>
              <a:ext uri="{FF2B5EF4-FFF2-40B4-BE49-F238E27FC236}">
                <a16:creationId xmlns:a16="http://schemas.microsoft.com/office/drawing/2014/main" id="{88697157-4CE3-F772-F9A9-E24F4114B355}"/>
              </a:ext>
            </a:extLst>
          </p:cNvPr>
          <p:cNvSpPr/>
          <p:nvPr/>
        </p:nvSpPr>
        <p:spPr>
          <a:xfrm>
            <a:off x="4838716" y="2513033"/>
            <a:ext cx="257170" cy="671730"/>
          </a:xfrm>
          <a:prstGeom prst="leftBrace">
            <a:avLst/>
          </a:prstGeom>
          <a:noFill/>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36" name="CuadroTexto 35">
            <a:extLst>
              <a:ext uri="{FF2B5EF4-FFF2-40B4-BE49-F238E27FC236}">
                <a16:creationId xmlns:a16="http://schemas.microsoft.com/office/drawing/2014/main" id="{59D7CD08-391D-7D12-7063-551AB9FC6F07}"/>
              </a:ext>
            </a:extLst>
          </p:cNvPr>
          <p:cNvSpPr txBox="1"/>
          <p:nvPr/>
        </p:nvSpPr>
        <p:spPr>
          <a:xfrm>
            <a:off x="5019675" y="2496272"/>
            <a:ext cx="6767498" cy="707886"/>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Es un esfuerzo temporal que tiene un principio y un final definidos, el final se alcanza cuando se logran los objetivos, cuando no se pueden cumplir o cuando ya no existe la necesidad que le dio origen. La temporalidad no significa que su duración deba ser corta, sino que sus compromisos y longevidad tienen un fin, el producto, servicio o resultado creado por el proyecto puede ser duradero.</a:t>
            </a:r>
            <a:endParaRPr lang="es-MX" sz="1000" dirty="0">
              <a:latin typeface="Times New Roman" panose="02020603050405020304" pitchFamily="18" charset="0"/>
              <a:cs typeface="Times New Roman" panose="02020603050405020304" pitchFamily="18" charset="0"/>
            </a:endParaRPr>
          </a:p>
        </p:txBody>
      </p:sp>
      <p:sp>
        <p:nvSpPr>
          <p:cNvPr id="37" name="CuadroTexto 36">
            <a:extLst>
              <a:ext uri="{FF2B5EF4-FFF2-40B4-BE49-F238E27FC236}">
                <a16:creationId xmlns:a16="http://schemas.microsoft.com/office/drawing/2014/main" id="{FA45593E-4FD6-D484-0290-DA32FDAD0EC4}"/>
              </a:ext>
            </a:extLst>
          </p:cNvPr>
          <p:cNvSpPr txBox="1"/>
          <p:nvPr/>
        </p:nvSpPr>
        <p:spPr>
          <a:xfrm>
            <a:off x="5019674" y="3259717"/>
            <a:ext cx="6767498"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Cada proyecto genera un producto, servicio o resultado que es único, aún con elementos repetitivos, cada proyecto es único, con diferentes localizaciones, diseños o interesados, se diferencia del trabajo permanente o rutinario, que es repetitivo y sigue procedimientos existentes.</a:t>
            </a:r>
            <a:endParaRPr lang="es-MX" sz="1000" dirty="0">
              <a:latin typeface="Times New Roman" panose="02020603050405020304" pitchFamily="18" charset="0"/>
              <a:cs typeface="Times New Roman" panose="02020603050405020304" pitchFamily="18" charset="0"/>
            </a:endParaRPr>
          </a:p>
        </p:txBody>
      </p:sp>
      <p:sp>
        <p:nvSpPr>
          <p:cNvPr id="41" name="Abrir llave 40">
            <a:extLst>
              <a:ext uri="{FF2B5EF4-FFF2-40B4-BE49-F238E27FC236}">
                <a16:creationId xmlns:a16="http://schemas.microsoft.com/office/drawing/2014/main" id="{B6042DE3-E7C5-3303-92BD-B40612B6918E}"/>
              </a:ext>
            </a:extLst>
          </p:cNvPr>
          <p:cNvSpPr/>
          <p:nvPr/>
        </p:nvSpPr>
        <p:spPr>
          <a:xfrm>
            <a:off x="4848257" y="3245703"/>
            <a:ext cx="257170" cy="553998"/>
          </a:xfrm>
          <a:prstGeom prst="leftBrace">
            <a:avLst/>
          </a:prstGeom>
          <a:noFill/>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42" name="CuadroTexto 41">
            <a:extLst>
              <a:ext uri="{FF2B5EF4-FFF2-40B4-BE49-F238E27FC236}">
                <a16:creationId xmlns:a16="http://schemas.microsoft.com/office/drawing/2014/main" id="{75DE2BF3-6A18-F334-E2B2-36AF85BA58E2}"/>
              </a:ext>
            </a:extLst>
          </p:cNvPr>
          <p:cNvSpPr txBox="1"/>
          <p:nvPr/>
        </p:nvSpPr>
        <p:spPr>
          <a:xfrm>
            <a:off x="5019674" y="3839295"/>
            <a:ext cx="6767498"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Un producto (componente, mejora o elemento final), un servicio o capacidad para realizarlo. Una mejora en las líneas de productos o servicios existentes (ej. proyecto Seis Sigma), un resultado, como una conclusión o un documento (ej. un estudio de investigación)</a:t>
            </a:r>
            <a:endParaRPr lang="es-MX" sz="1000" dirty="0">
              <a:latin typeface="Times New Roman" panose="02020603050405020304" pitchFamily="18" charset="0"/>
              <a:cs typeface="Times New Roman" panose="02020603050405020304" pitchFamily="18" charset="0"/>
            </a:endParaRPr>
          </a:p>
        </p:txBody>
      </p:sp>
      <p:sp>
        <p:nvSpPr>
          <p:cNvPr id="43" name="Abrir llave 42">
            <a:extLst>
              <a:ext uri="{FF2B5EF4-FFF2-40B4-BE49-F238E27FC236}">
                <a16:creationId xmlns:a16="http://schemas.microsoft.com/office/drawing/2014/main" id="{1CBD80A6-F292-5A17-122C-681177849E10}"/>
              </a:ext>
            </a:extLst>
          </p:cNvPr>
          <p:cNvSpPr/>
          <p:nvPr/>
        </p:nvSpPr>
        <p:spPr>
          <a:xfrm>
            <a:off x="3645687" y="4713489"/>
            <a:ext cx="323854" cy="1811660"/>
          </a:xfrm>
          <a:prstGeom prst="leftBrace">
            <a:avLst>
              <a:gd name="adj1" fmla="val 8333"/>
              <a:gd name="adj2" fmla="val 51550"/>
            </a:avLst>
          </a:prstGeom>
          <a:noFill/>
          <a:ln>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solidFill>
                <a:srgbClr val="92D050"/>
              </a:solidFill>
            </a:endParaRPr>
          </a:p>
        </p:txBody>
      </p:sp>
      <p:sp>
        <p:nvSpPr>
          <p:cNvPr id="44" name="CuadroTexto 43">
            <a:extLst>
              <a:ext uri="{FF2B5EF4-FFF2-40B4-BE49-F238E27FC236}">
                <a16:creationId xmlns:a16="http://schemas.microsoft.com/office/drawing/2014/main" id="{9BAF9371-9AE8-70B5-0AE6-5A223BD1CB48}"/>
              </a:ext>
            </a:extLst>
          </p:cNvPr>
          <p:cNvSpPr txBox="1"/>
          <p:nvPr/>
        </p:nvSpPr>
        <p:spPr>
          <a:xfrm>
            <a:off x="3871906" y="4810492"/>
            <a:ext cx="1919295" cy="246221"/>
          </a:xfrm>
          <a:prstGeom prst="rect">
            <a:avLst/>
          </a:prstGeom>
          <a:noFill/>
        </p:spPr>
        <p:txBody>
          <a:bodyPr wrap="square" rtlCol="0">
            <a:spAutoFit/>
          </a:bodyPr>
          <a:lstStyle/>
          <a:p>
            <a:r>
              <a:rPr lang="es-MX" sz="1000">
                <a:solidFill>
                  <a:srgbClr val="00B050"/>
                </a:solidFill>
                <a:latin typeface="Times New Roman" panose="02020603050405020304" pitchFamily="18" charset="0"/>
                <a:cs typeface="Times New Roman" panose="02020603050405020304" pitchFamily="18" charset="0"/>
              </a:rPr>
              <a:t>Definición</a:t>
            </a:r>
            <a:endParaRPr lang="es-MX" sz="1000" dirty="0">
              <a:solidFill>
                <a:srgbClr val="00B050"/>
              </a:solidFill>
              <a:latin typeface="Times New Roman" panose="02020603050405020304" pitchFamily="18" charset="0"/>
              <a:cs typeface="Times New Roman" panose="02020603050405020304" pitchFamily="18" charset="0"/>
            </a:endParaRPr>
          </a:p>
        </p:txBody>
      </p:sp>
      <p:sp>
        <p:nvSpPr>
          <p:cNvPr id="45" name="CuadroTexto 44">
            <a:extLst>
              <a:ext uri="{FF2B5EF4-FFF2-40B4-BE49-F238E27FC236}">
                <a16:creationId xmlns:a16="http://schemas.microsoft.com/office/drawing/2014/main" id="{44A02706-028F-7EEF-7440-1521748CFB79}"/>
              </a:ext>
            </a:extLst>
          </p:cNvPr>
          <p:cNvSpPr txBox="1"/>
          <p:nvPr/>
        </p:nvSpPr>
        <p:spPr>
          <a:xfrm>
            <a:off x="3871906" y="5362951"/>
            <a:ext cx="1319252" cy="400110"/>
          </a:xfrm>
          <a:prstGeom prst="rect">
            <a:avLst/>
          </a:prstGeom>
          <a:noFill/>
        </p:spPr>
        <p:txBody>
          <a:bodyPr wrap="square" rtlCol="0">
            <a:spAutoFit/>
          </a:bodyPr>
          <a:lstStyle/>
          <a:p>
            <a:r>
              <a:rPr lang="es-MX" sz="1000" dirty="0">
                <a:solidFill>
                  <a:srgbClr val="00B050"/>
                </a:solidFill>
                <a:latin typeface="Times New Roman" panose="02020603050405020304" pitchFamily="18" charset="0"/>
                <a:cs typeface="Times New Roman" panose="02020603050405020304" pitchFamily="18" charset="0"/>
              </a:rPr>
              <a:t>Responsabilidades clave</a:t>
            </a:r>
          </a:p>
        </p:txBody>
      </p:sp>
      <p:sp>
        <p:nvSpPr>
          <p:cNvPr id="46" name="CuadroTexto 45">
            <a:extLst>
              <a:ext uri="{FF2B5EF4-FFF2-40B4-BE49-F238E27FC236}">
                <a16:creationId xmlns:a16="http://schemas.microsoft.com/office/drawing/2014/main" id="{40281D36-E437-D3D6-791A-C9DBFEFFC7E6}"/>
              </a:ext>
            </a:extLst>
          </p:cNvPr>
          <p:cNvSpPr txBox="1"/>
          <p:nvPr/>
        </p:nvSpPr>
        <p:spPr>
          <a:xfrm>
            <a:off x="3879069" y="5970059"/>
            <a:ext cx="1319252" cy="400110"/>
          </a:xfrm>
          <a:prstGeom prst="rect">
            <a:avLst/>
          </a:prstGeom>
          <a:noFill/>
        </p:spPr>
        <p:txBody>
          <a:bodyPr wrap="square" rtlCol="0">
            <a:spAutoFit/>
          </a:bodyPr>
          <a:lstStyle/>
          <a:p>
            <a:r>
              <a:rPr lang="es-MX" sz="1000" dirty="0">
                <a:solidFill>
                  <a:srgbClr val="00B050"/>
                </a:solidFill>
                <a:latin typeface="Times New Roman" panose="02020603050405020304" pitchFamily="18" charset="0"/>
                <a:cs typeface="Times New Roman" panose="02020603050405020304" pitchFamily="18" charset="0"/>
              </a:rPr>
              <a:t>Elaboración progresiva</a:t>
            </a:r>
          </a:p>
        </p:txBody>
      </p:sp>
      <p:sp>
        <p:nvSpPr>
          <p:cNvPr id="47" name="Abrir llave 46">
            <a:extLst>
              <a:ext uri="{FF2B5EF4-FFF2-40B4-BE49-F238E27FC236}">
                <a16:creationId xmlns:a16="http://schemas.microsoft.com/office/drawing/2014/main" id="{33986C97-7175-0FD1-E27A-92B7A754C4F5}"/>
              </a:ext>
            </a:extLst>
          </p:cNvPr>
          <p:cNvSpPr/>
          <p:nvPr/>
        </p:nvSpPr>
        <p:spPr>
          <a:xfrm>
            <a:off x="5000662" y="4685360"/>
            <a:ext cx="257170" cy="530676"/>
          </a:xfrm>
          <a:prstGeom prst="leftBrace">
            <a:avLst/>
          </a:prstGeom>
          <a:noFill/>
          <a:ln>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48" name="CuadroTexto 47">
            <a:extLst>
              <a:ext uri="{FF2B5EF4-FFF2-40B4-BE49-F238E27FC236}">
                <a16:creationId xmlns:a16="http://schemas.microsoft.com/office/drawing/2014/main" id="{A7C4C2FC-84FD-EF20-ACDD-082F96854033}"/>
              </a:ext>
            </a:extLst>
          </p:cNvPr>
          <p:cNvSpPr txBox="1"/>
          <p:nvPr/>
        </p:nvSpPr>
        <p:spPr>
          <a:xfrm>
            <a:off x="5191135" y="4660792"/>
            <a:ext cx="6596037"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Es la aplicación de conocimientos, habilidades, herramientas y técnicas a las actividades del proyecto</a:t>
            </a:r>
            <a:r>
              <a:rPr lang="es-MX" sz="1000" dirty="0">
                <a:latin typeface="Times New Roman" panose="02020603050405020304" pitchFamily="18" charset="0"/>
                <a:cs typeface="Times New Roman" panose="02020603050405020304" pitchFamily="18" charset="0"/>
              </a:rPr>
              <a:t>. </a:t>
            </a:r>
            <a:r>
              <a:rPr lang="es-ES" sz="1000" dirty="0">
                <a:latin typeface="Times New Roman" panose="02020603050405020304" pitchFamily="18" charset="0"/>
                <a:cs typeface="Times New Roman" panose="02020603050405020304" pitchFamily="18" charset="0"/>
              </a:rPr>
              <a:t>Se logra a través de 47 procesos lógicamente agrupados en 5 Grupos de Procesos</a:t>
            </a:r>
            <a:r>
              <a:rPr lang="es-MX" sz="1000" dirty="0">
                <a:latin typeface="Times New Roman" panose="02020603050405020304" pitchFamily="18" charset="0"/>
                <a:cs typeface="Times New Roman" panose="02020603050405020304" pitchFamily="18" charset="0"/>
              </a:rPr>
              <a:t>. </a:t>
            </a:r>
            <a:r>
              <a:rPr lang="es-ES" sz="1000" dirty="0">
                <a:latin typeface="Times New Roman" panose="02020603050405020304" pitchFamily="18" charset="0"/>
                <a:cs typeface="Times New Roman" panose="02020603050405020304" pitchFamily="18" charset="0"/>
              </a:rPr>
              <a:t>Los 5 Grupos de Procesos son: Inicio, Planificación, Ejecución, Monitoreo y Control, y Cierre</a:t>
            </a:r>
            <a:endParaRPr lang="es-MX" sz="1000" dirty="0">
              <a:latin typeface="Times New Roman" panose="02020603050405020304" pitchFamily="18" charset="0"/>
              <a:cs typeface="Times New Roman" panose="02020603050405020304" pitchFamily="18" charset="0"/>
            </a:endParaRPr>
          </a:p>
        </p:txBody>
      </p:sp>
      <p:sp>
        <p:nvSpPr>
          <p:cNvPr id="49" name="Abrir llave 48">
            <a:extLst>
              <a:ext uri="{FF2B5EF4-FFF2-40B4-BE49-F238E27FC236}">
                <a16:creationId xmlns:a16="http://schemas.microsoft.com/office/drawing/2014/main" id="{AF7ACD29-7C2C-D97B-18FB-DD12B0270FEA}"/>
              </a:ext>
            </a:extLst>
          </p:cNvPr>
          <p:cNvSpPr/>
          <p:nvPr/>
        </p:nvSpPr>
        <p:spPr>
          <a:xfrm>
            <a:off x="5000662" y="5265115"/>
            <a:ext cx="257170" cy="530676"/>
          </a:xfrm>
          <a:prstGeom prst="leftBrace">
            <a:avLst/>
          </a:prstGeom>
          <a:noFill/>
          <a:ln>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50" name="CuadroTexto 49">
            <a:extLst>
              <a:ext uri="{FF2B5EF4-FFF2-40B4-BE49-F238E27FC236}">
                <a16:creationId xmlns:a16="http://schemas.microsoft.com/office/drawing/2014/main" id="{EA45C48A-D5AE-B4DE-35EC-EFF879ACAAAE}"/>
              </a:ext>
            </a:extLst>
          </p:cNvPr>
          <p:cNvSpPr txBox="1"/>
          <p:nvPr/>
        </p:nvSpPr>
        <p:spPr>
          <a:xfrm>
            <a:off x="5191134" y="5241793"/>
            <a:ext cx="6596037"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Identificar requisitos, abordar necesidades y expectativas de los interesados, y gestionar las comunicaciones, gestionar a los interesados para cumplir los requisitos del proyecto y entregar los productos. Equilibrar las restricciones contrapuestas del proyecto: alcance, calidad, cronograma, presupuesto, recursos y riesgos.</a:t>
            </a:r>
            <a:endParaRPr lang="es-MX" sz="1000" dirty="0">
              <a:latin typeface="Times New Roman" panose="02020603050405020304" pitchFamily="18" charset="0"/>
              <a:cs typeface="Times New Roman" panose="02020603050405020304" pitchFamily="18" charset="0"/>
            </a:endParaRPr>
          </a:p>
        </p:txBody>
      </p:sp>
      <p:sp>
        <p:nvSpPr>
          <p:cNvPr id="52" name="Abrir llave 51">
            <a:extLst>
              <a:ext uri="{FF2B5EF4-FFF2-40B4-BE49-F238E27FC236}">
                <a16:creationId xmlns:a16="http://schemas.microsoft.com/office/drawing/2014/main" id="{F7D02540-6429-CB6E-7C96-642600277AB0}"/>
              </a:ext>
            </a:extLst>
          </p:cNvPr>
          <p:cNvSpPr/>
          <p:nvPr/>
        </p:nvSpPr>
        <p:spPr>
          <a:xfrm>
            <a:off x="5000662" y="5868192"/>
            <a:ext cx="257170" cy="530676"/>
          </a:xfrm>
          <a:prstGeom prst="leftBrace">
            <a:avLst/>
          </a:prstGeom>
          <a:noFill/>
          <a:ln>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53" name="CuadroTexto 52">
            <a:extLst>
              <a:ext uri="{FF2B5EF4-FFF2-40B4-BE49-F238E27FC236}">
                <a16:creationId xmlns:a16="http://schemas.microsoft.com/office/drawing/2014/main" id="{22653B49-A3B9-090C-56AB-5E3C70C23239}"/>
              </a:ext>
            </a:extLst>
          </p:cNvPr>
          <p:cNvSpPr txBox="1"/>
          <p:nvPr/>
        </p:nvSpPr>
        <p:spPr>
          <a:xfrm>
            <a:off x="5191134" y="5844870"/>
            <a:ext cx="6596037"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El desarrollo del plan de dirección es una actividad iterativa y progresiva</a:t>
            </a:r>
            <a:r>
              <a:rPr lang="es-MX" sz="1000" dirty="0">
                <a:latin typeface="Times New Roman" panose="02020603050405020304" pitchFamily="18" charset="0"/>
                <a:cs typeface="Times New Roman" panose="02020603050405020304" pitchFamily="18" charset="0"/>
              </a:rPr>
              <a:t>. </a:t>
            </a:r>
            <a:r>
              <a:rPr lang="es-ES" sz="1000" dirty="0">
                <a:latin typeface="Times New Roman" panose="02020603050405020304" pitchFamily="18" charset="0"/>
                <a:cs typeface="Times New Roman" panose="02020603050405020304" pitchFamily="18" charset="0"/>
              </a:rPr>
              <a:t>Implica detallar continuamente el plan a medida que se obtiene más información y estimaciones más precisas</a:t>
            </a:r>
            <a:r>
              <a:rPr lang="es-MX" sz="1000">
                <a:latin typeface="Times New Roman" panose="02020603050405020304" pitchFamily="18" charset="0"/>
                <a:cs typeface="Times New Roman" panose="02020603050405020304" pitchFamily="18" charset="0"/>
              </a:rPr>
              <a:t>.</a:t>
            </a:r>
            <a:r>
              <a:rPr lang="es-ES" sz="1000">
                <a:latin typeface="Times New Roman" panose="02020603050405020304" pitchFamily="18" charset="0"/>
                <a:cs typeface="Times New Roman" panose="02020603050405020304" pitchFamily="18" charset="0"/>
              </a:rPr>
              <a:t> </a:t>
            </a:r>
            <a:r>
              <a:rPr lang="es-ES" sz="1000" dirty="0">
                <a:latin typeface="Times New Roman" panose="02020603050405020304" pitchFamily="18" charset="0"/>
                <a:cs typeface="Times New Roman" panose="02020603050405020304" pitchFamily="18" charset="0"/>
              </a:rPr>
              <a:t>Esto permite al equipo definir el trabajo con mayor detalle a medida que el proyecto avanza.</a:t>
            </a:r>
            <a:endParaRPr lang="es-MX"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9916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75234BA3-E364-87FD-ACBF-9051C6445F07}"/>
              </a:ext>
            </a:extLst>
          </p:cNvPr>
          <p:cNvSpPr txBox="1"/>
          <p:nvPr/>
        </p:nvSpPr>
        <p:spPr>
          <a:xfrm>
            <a:off x="1304926" y="3667696"/>
            <a:ext cx="2419347" cy="830997"/>
          </a:xfrm>
          <a:prstGeom prst="rect">
            <a:avLst/>
          </a:prstGeom>
          <a:noFill/>
        </p:spPr>
        <p:txBody>
          <a:bodyPr wrap="square" rtlCol="0">
            <a:spAutoFit/>
          </a:bodyPr>
          <a:lstStyle/>
          <a:p>
            <a:r>
              <a:rPr lang="es-ES" sz="1200" dirty="0">
                <a:solidFill>
                  <a:srgbClr val="7030A0"/>
                </a:solidFill>
                <a:latin typeface="Bauhaus 93" panose="04030905020B02020C02" pitchFamily="82" charset="0"/>
                <a:cs typeface="Aharoni" panose="02010803020104030203" pitchFamily="2" charset="-79"/>
              </a:rPr>
              <a:t>Relación entre Dirección de Proyectos, Gestión de Operaciones y Estrategia Organizacional</a:t>
            </a:r>
            <a:endParaRPr lang="es-MX" sz="1200" dirty="0">
              <a:solidFill>
                <a:srgbClr val="7030A0"/>
              </a:solidFill>
              <a:latin typeface="Bauhaus 93" panose="04030905020B02020C02" pitchFamily="82" charset="0"/>
              <a:cs typeface="Aharoni" panose="02010803020104030203" pitchFamily="2" charset="-79"/>
            </a:endParaRPr>
          </a:p>
        </p:txBody>
      </p:sp>
      <p:sp>
        <p:nvSpPr>
          <p:cNvPr id="9" name="CuadroTexto 8">
            <a:extLst>
              <a:ext uri="{FF2B5EF4-FFF2-40B4-BE49-F238E27FC236}">
                <a16:creationId xmlns:a16="http://schemas.microsoft.com/office/drawing/2014/main" id="{BB1F7C61-E0AB-2FCC-4596-3DD30725138A}"/>
              </a:ext>
            </a:extLst>
          </p:cNvPr>
          <p:cNvSpPr txBox="1"/>
          <p:nvPr/>
        </p:nvSpPr>
        <p:spPr>
          <a:xfrm>
            <a:off x="1304924" y="835732"/>
            <a:ext cx="2419349" cy="600164"/>
          </a:xfrm>
          <a:prstGeom prst="rect">
            <a:avLst/>
          </a:prstGeom>
          <a:noFill/>
        </p:spPr>
        <p:txBody>
          <a:bodyPr wrap="square" rtlCol="0">
            <a:spAutoFit/>
          </a:bodyPr>
          <a:lstStyle/>
          <a:p>
            <a:r>
              <a:rPr lang="es-ES" sz="1100" dirty="0">
                <a:solidFill>
                  <a:srgbClr val="FF0000"/>
                </a:solidFill>
                <a:latin typeface="Bauhaus 93" panose="04030905020B02020C02" pitchFamily="82" charset="0"/>
                <a:cs typeface="Aharoni" panose="02010803020104030203" pitchFamily="2" charset="-79"/>
              </a:rPr>
              <a:t>Relaciones entre Dirección de Proyectos, Programas, Portafolios y OPM</a:t>
            </a:r>
            <a:endParaRPr lang="es-MX" sz="1100" dirty="0">
              <a:solidFill>
                <a:srgbClr val="FF0000"/>
              </a:solidFill>
              <a:latin typeface="Bauhaus 93" panose="04030905020B02020C02" pitchFamily="82" charset="0"/>
              <a:cs typeface="Aharoni" panose="02010803020104030203" pitchFamily="2" charset="-79"/>
            </a:endParaRPr>
          </a:p>
        </p:txBody>
      </p:sp>
      <p:sp>
        <p:nvSpPr>
          <p:cNvPr id="5" name="CuadroTexto 4">
            <a:extLst>
              <a:ext uri="{FF2B5EF4-FFF2-40B4-BE49-F238E27FC236}">
                <a16:creationId xmlns:a16="http://schemas.microsoft.com/office/drawing/2014/main" id="{ADF19827-6B0B-85EA-81E0-A0A5745430B4}"/>
              </a:ext>
            </a:extLst>
          </p:cNvPr>
          <p:cNvSpPr txBox="1"/>
          <p:nvPr/>
        </p:nvSpPr>
        <p:spPr>
          <a:xfrm>
            <a:off x="123826" y="3290500"/>
            <a:ext cx="1009650" cy="276999"/>
          </a:xfrm>
          <a:prstGeom prst="rect">
            <a:avLst/>
          </a:prstGeom>
          <a:noFill/>
        </p:spPr>
        <p:txBody>
          <a:bodyPr wrap="square" rtlCol="0">
            <a:spAutoFit/>
          </a:bodyPr>
          <a:lstStyle/>
          <a:p>
            <a:pPr algn="ctr"/>
            <a:r>
              <a:rPr lang="es-MX" sz="1200" dirty="0">
                <a:latin typeface="Bauhaus 93" panose="04030905020B02020C02" pitchFamily="82" charset="0"/>
                <a:cs typeface="Aharoni" panose="02010803020104030203" pitchFamily="2" charset="-79"/>
              </a:rPr>
              <a:t>Capitulo 1</a:t>
            </a:r>
          </a:p>
        </p:txBody>
      </p:sp>
      <p:sp>
        <p:nvSpPr>
          <p:cNvPr id="6" name="Abrir llave 5">
            <a:extLst>
              <a:ext uri="{FF2B5EF4-FFF2-40B4-BE49-F238E27FC236}">
                <a16:creationId xmlns:a16="http://schemas.microsoft.com/office/drawing/2014/main" id="{32D2C672-51B6-32A9-9A2A-0AD9023BB2BD}"/>
              </a:ext>
            </a:extLst>
          </p:cNvPr>
          <p:cNvSpPr>
            <a:spLocks/>
          </p:cNvSpPr>
          <p:nvPr/>
        </p:nvSpPr>
        <p:spPr>
          <a:xfrm>
            <a:off x="1047754" y="542926"/>
            <a:ext cx="257170" cy="5772148"/>
          </a:xfrm>
          <a:prstGeom prst="leftBrace">
            <a:avLst/>
          </a:pr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7" name="Abrir llave 6">
            <a:extLst>
              <a:ext uri="{FF2B5EF4-FFF2-40B4-BE49-F238E27FC236}">
                <a16:creationId xmlns:a16="http://schemas.microsoft.com/office/drawing/2014/main" id="{7136211A-47AA-2311-CFFB-E42458323CC0}"/>
              </a:ext>
            </a:extLst>
          </p:cNvPr>
          <p:cNvSpPr/>
          <p:nvPr/>
        </p:nvSpPr>
        <p:spPr>
          <a:xfrm>
            <a:off x="3724273" y="61109"/>
            <a:ext cx="323854" cy="2149410"/>
          </a:xfrm>
          <a:prstGeom prst="leftBrace">
            <a:avLst>
              <a:gd name="adj1" fmla="val 8333"/>
              <a:gd name="adj2" fmla="val 47341"/>
            </a:avLst>
          </a:prstGeom>
          <a:noFill/>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ln>
                <a:solidFill>
                  <a:srgbClr val="FF0000"/>
                </a:solidFill>
              </a:ln>
            </a:endParaRPr>
          </a:p>
        </p:txBody>
      </p:sp>
      <p:sp>
        <p:nvSpPr>
          <p:cNvPr id="8" name="CuadroTexto 7">
            <a:extLst>
              <a:ext uri="{FF2B5EF4-FFF2-40B4-BE49-F238E27FC236}">
                <a16:creationId xmlns:a16="http://schemas.microsoft.com/office/drawing/2014/main" id="{A90C6191-F5DF-8AA0-7AFD-A33DB624584E}"/>
              </a:ext>
            </a:extLst>
          </p:cNvPr>
          <p:cNvSpPr txBox="1"/>
          <p:nvPr/>
        </p:nvSpPr>
        <p:spPr>
          <a:xfrm>
            <a:off x="3962400" y="190441"/>
            <a:ext cx="1490670" cy="246221"/>
          </a:xfrm>
          <a:prstGeom prst="rect">
            <a:avLst/>
          </a:prstGeom>
          <a:noFill/>
        </p:spPr>
        <p:txBody>
          <a:bodyPr wrap="square" rtlCol="0">
            <a:spAutoFit/>
          </a:bodyPr>
          <a:lstStyle/>
          <a:p>
            <a:r>
              <a:rPr lang="es-ES" sz="1000" dirty="0">
                <a:solidFill>
                  <a:srgbClr val="FF0000"/>
                </a:solidFill>
                <a:latin typeface="Times New Roman" panose="02020603050405020304" pitchFamily="18" charset="0"/>
                <a:cs typeface="Times New Roman" panose="02020603050405020304" pitchFamily="18" charset="0"/>
              </a:rPr>
              <a:t>Alineación estratégica</a:t>
            </a:r>
            <a:endParaRPr lang="es-MX" sz="1000" dirty="0">
              <a:solidFill>
                <a:srgbClr val="FF0000"/>
              </a:solidFill>
              <a:latin typeface="Times New Roman" panose="02020603050405020304" pitchFamily="18" charset="0"/>
              <a:cs typeface="Times New Roman" panose="02020603050405020304" pitchFamily="18" charset="0"/>
            </a:endParaRPr>
          </a:p>
        </p:txBody>
      </p:sp>
      <p:sp>
        <p:nvSpPr>
          <p:cNvPr id="14" name="CuadroTexto 13">
            <a:extLst>
              <a:ext uri="{FF2B5EF4-FFF2-40B4-BE49-F238E27FC236}">
                <a16:creationId xmlns:a16="http://schemas.microsoft.com/office/drawing/2014/main" id="{D3A6C07E-101B-6EFA-0475-834169F12768}"/>
              </a:ext>
            </a:extLst>
          </p:cNvPr>
          <p:cNvSpPr txBox="1"/>
          <p:nvPr/>
        </p:nvSpPr>
        <p:spPr>
          <a:xfrm>
            <a:off x="3967165" y="1369710"/>
            <a:ext cx="1262072" cy="400110"/>
          </a:xfrm>
          <a:prstGeom prst="rect">
            <a:avLst/>
          </a:prstGeom>
          <a:noFill/>
        </p:spPr>
        <p:txBody>
          <a:bodyPr wrap="square" rtlCol="0">
            <a:spAutoFit/>
          </a:bodyPr>
          <a:lstStyle/>
          <a:p>
            <a:r>
              <a:rPr lang="es-ES" sz="1000" dirty="0">
                <a:solidFill>
                  <a:srgbClr val="FF0000"/>
                </a:solidFill>
                <a:latin typeface="Times New Roman" panose="02020603050405020304" pitchFamily="18" charset="0"/>
                <a:cs typeface="Times New Roman" panose="02020603050405020304" pitchFamily="18" charset="0"/>
              </a:rPr>
              <a:t>Diferencias en el enfoque</a:t>
            </a:r>
            <a:endParaRPr lang="es-MX" sz="1000" dirty="0">
              <a:solidFill>
                <a:srgbClr val="FF0000"/>
              </a:solidFill>
              <a:latin typeface="Times New Roman" panose="02020603050405020304" pitchFamily="18" charset="0"/>
              <a:cs typeface="Times New Roman" panose="02020603050405020304" pitchFamily="18" charset="0"/>
            </a:endParaRPr>
          </a:p>
        </p:txBody>
      </p:sp>
      <p:sp>
        <p:nvSpPr>
          <p:cNvPr id="15" name="Abrir llave 14">
            <a:extLst>
              <a:ext uri="{FF2B5EF4-FFF2-40B4-BE49-F238E27FC236}">
                <a16:creationId xmlns:a16="http://schemas.microsoft.com/office/drawing/2014/main" id="{D2A49544-2680-BC96-F1FB-2B581F86466F}"/>
              </a:ext>
            </a:extLst>
          </p:cNvPr>
          <p:cNvSpPr/>
          <p:nvPr/>
        </p:nvSpPr>
        <p:spPr>
          <a:xfrm>
            <a:off x="5229237" y="118259"/>
            <a:ext cx="257170" cy="400110"/>
          </a:xfrm>
          <a:prstGeom prst="leftBrace">
            <a:avLst/>
          </a:prstGeom>
          <a:noFill/>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6" name="CuadroTexto 15">
            <a:extLst>
              <a:ext uri="{FF2B5EF4-FFF2-40B4-BE49-F238E27FC236}">
                <a16:creationId xmlns:a16="http://schemas.microsoft.com/office/drawing/2014/main" id="{B5052FF9-0E89-9C8F-8727-5C0C39393D9B}"/>
              </a:ext>
            </a:extLst>
          </p:cNvPr>
          <p:cNvSpPr txBox="1"/>
          <p:nvPr/>
        </p:nvSpPr>
        <p:spPr>
          <a:xfrm>
            <a:off x="5434022" y="118259"/>
            <a:ext cx="6300778" cy="400110"/>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Subconjunto de conocimientos y prácticas de la dirección de proyectos generalmente reconocidas y aplicables a la mayoría de los proyectos. La aplicación de estos conocimientos aumenta las posibilidades de éxito del proyecto.</a:t>
            </a:r>
            <a:endParaRPr lang="es-MX" sz="1000" dirty="0">
              <a:latin typeface="Times New Roman" panose="02020603050405020304" pitchFamily="18" charset="0"/>
              <a:cs typeface="Times New Roman" panose="02020603050405020304" pitchFamily="18" charset="0"/>
            </a:endParaRPr>
          </a:p>
        </p:txBody>
      </p:sp>
      <p:sp>
        <p:nvSpPr>
          <p:cNvPr id="17" name="Abrir llave 16">
            <a:extLst>
              <a:ext uri="{FF2B5EF4-FFF2-40B4-BE49-F238E27FC236}">
                <a16:creationId xmlns:a16="http://schemas.microsoft.com/office/drawing/2014/main" id="{9EDE0389-F87F-87F7-E4C1-62F6628F038F}"/>
              </a:ext>
            </a:extLst>
          </p:cNvPr>
          <p:cNvSpPr/>
          <p:nvPr/>
        </p:nvSpPr>
        <p:spPr>
          <a:xfrm>
            <a:off x="5234007" y="752599"/>
            <a:ext cx="257170" cy="1758708"/>
          </a:xfrm>
          <a:prstGeom prst="leftBrace">
            <a:avLst/>
          </a:prstGeom>
          <a:noFill/>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1" name="CuadroTexto 20">
            <a:extLst>
              <a:ext uri="{FF2B5EF4-FFF2-40B4-BE49-F238E27FC236}">
                <a16:creationId xmlns:a16="http://schemas.microsoft.com/office/drawing/2014/main" id="{65EA5341-9A92-B6CE-5F7C-C2A9B8368FFD}"/>
              </a:ext>
            </a:extLst>
          </p:cNvPr>
          <p:cNvSpPr txBox="1"/>
          <p:nvPr/>
        </p:nvSpPr>
        <p:spPr>
          <a:xfrm>
            <a:off x="5434022" y="835732"/>
            <a:ext cx="1104898" cy="246221"/>
          </a:xfrm>
          <a:prstGeom prst="rect">
            <a:avLst/>
          </a:prstGeom>
          <a:noFill/>
        </p:spPr>
        <p:txBody>
          <a:bodyPr wrap="square" rtlCol="0">
            <a:spAutoFit/>
          </a:bodyPr>
          <a:lstStyle/>
          <a:p>
            <a:r>
              <a:rPr lang="es-ES" sz="1000" dirty="0">
                <a:solidFill>
                  <a:srgbClr val="FF0000"/>
                </a:solidFill>
                <a:latin typeface="Times New Roman" panose="02020603050405020304" pitchFamily="18" charset="0"/>
                <a:cs typeface="Times New Roman" panose="02020603050405020304" pitchFamily="18" charset="0"/>
              </a:rPr>
              <a:t>Proyectos</a:t>
            </a:r>
            <a:endParaRPr lang="es-MX" sz="1000" dirty="0">
              <a:solidFill>
                <a:srgbClr val="FF0000"/>
              </a:solidFill>
              <a:latin typeface="Times New Roman" panose="02020603050405020304" pitchFamily="18" charset="0"/>
              <a:cs typeface="Times New Roman" panose="02020603050405020304" pitchFamily="18" charset="0"/>
            </a:endParaRPr>
          </a:p>
        </p:txBody>
      </p:sp>
      <p:sp>
        <p:nvSpPr>
          <p:cNvPr id="22" name="CuadroTexto 21">
            <a:extLst>
              <a:ext uri="{FF2B5EF4-FFF2-40B4-BE49-F238E27FC236}">
                <a16:creationId xmlns:a16="http://schemas.microsoft.com/office/drawing/2014/main" id="{3389E5C2-D346-E95D-1E0F-BD4112BC6285}"/>
              </a:ext>
            </a:extLst>
          </p:cNvPr>
          <p:cNvSpPr txBox="1"/>
          <p:nvPr/>
        </p:nvSpPr>
        <p:spPr>
          <a:xfrm>
            <a:off x="5434022" y="1254599"/>
            <a:ext cx="1104898" cy="246221"/>
          </a:xfrm>
          <a:prstGeom prst="rect">
            <a:avLst/>
          </a:prstGeom>
          <a:noFill/>
        </p:spPr>
        <p:txBody>
          <a:bodyPr wrap="square" rtlCol="0">
            <a:spAutoFit/>
          </a:bodyPr>
          <a:lstStyle/>
          <a:p>
            <a:r>
              <a:rPr lang="es-ES" sz="1000" dirty="0">
                <a:solidFill>
                  <a:srgbClr val="FF0000"/>
                </a:solidFill>
                <a:latin typeface="Times New Roman" panose="02020603050405020304" pitchFamily="18" charset="0"/>
                <a:cs typeface="Times New Roman" panose="02020603050405020304" pitchFamily="18" charset="0"/>
              </a:rPr>
              <a:t>Programas</a:t>
            </a:r>
            <a:endParaRPr lang="es-MX" sz="1000" dirty="0">
              <a:solidFill>
                <a:srgbClr val="FF0000"/>
              </a:solidFill>
              <a:latin typeface="Times New Roman" panose="02020603050405020304" pitchFamily="18" charset="0"/>
              <a:cs typeface="Times New Roman" panose="02020603050405020304" pitchFamily="18" charset="0"/>
            </a:endParaRPr>
          </a:p>
        </p:txBody>
      </p:sp>
      <p:sp>
        <p:nvSpPr>
          <p:cNvPr id="23" name="CuadroTexto 22">
            <a:extLst>
              <a:ext uri="{FF2B5EF4-FFF2-40B4-BE49-F238E27FC236}">
                <a16:creationId xmlns:a16="http://schemas.microsoft.com/office/drawing/2014/main" id="{F976C346-ACF9-4BD9-CDE3-85F90E2B3FDD}"/>
              </a:ext>
            </a:extLst>
          </p:cNvPr>
          <p:cNvSpPr txBox="1"/>
          <p:nvPr/>
        </p:nvSpPr>
        <p:spPr>
          <a:xfrm>
            <a:off x="5434022" y="1704946"/>
            <a:ext cx="1104898" cy="246221"/>
          </a:xfrm>
          <a:prstGeom prst="rect">
            <a:avLst/>
          </a:prstGeom>
          <a:noFill/>
        </p:spPr>
        <p:txBody>
          <a:bodyPr wrap="square" rtlCol="0">
            <a:spAutoFit/>
          </a:bodyPr>
          <a:lstStyle/>
          <a:p>
            <a:r>
              <a:rPr lang="es-ES" sz="1000" dirty="0">
                <a:solidFill>
                  <a:srgbClr val="FF0000"/>
                </a:solidFill>
                <a:latin typeface="Times New Roman" panose="02020603050405020304" pitchFamily="18" charset="0"/>
                <a:cs typeface="Times New Roman" panose="02020603050405020304" pitchFamily="18" charset="0"/>
              </a:rPr>
              <a:t>Portafolios</a:t>
            </a:r>
            <a:endParaRPr lang="es-MX" sz="1000" dirty="0">
              <a:solidFill>
                <a:srgbClr val="FF0000"/>
              </a:solidFill>
              <a:latin typeface="Times New Roman" panose="02020603050405020304" pitchFamily="18" charset="0"/>
              <a:cs typeface="Times New Roman" panose="02020603050405020304" pitchFamily="18" charset="0"/>
            </a:endParaRPr>
          </a:p>
        </p:txBody>
      </p:sp>
      <p:sp>
        <p:nvSpPr>
          <p:cNvPr id="24" name="Abrir llave 23">
            <a:extLst>
              <a:ext uri="{FF2B5EF4-FFF2-40B4-BE49-F238E27FC236}">
                <a16:creationId xmlns:a16="http://schemas.microsoft.com/office/drawing/2014/main" id="{60C4B3B7-0CF3-351D-EE1B-B16FA8E5274B}"/>
              </a:ext>
            </a:extLst>
          </p:cNvPr>
          <p:cNvSpPr/>
          <p:nvPr/>
        </p:nvSpPr>
        <p:spPr>
          <a:xfrm>
            <a:off x="6096000" y="758787"/>
            <a:ext cx="257170" cy="369332"/>
          </a:xfrm>
          <a:prstGeom prst="leftBrace">
            <a:avLst/>
          </a:prstGeom>
          <a:noFill/>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5" name="CuadroTexto 24">
            <a:extLst>
              <a:ext uri="{FF2B5EF4-FFF2-40B4-BE49-F238E27FC236}">
                <a16:creationId xmlns:a16="http://schemas.microsoft.com/office/drawing/2014/main" id="{6E933102-EDAF-62B9-695C-5B8FF4D43BF2}"/>
              </a:ext>
            </a:extLst>
          </p:cNvPr>
          <p:cNvSpPr txBox="1"/>
          <p:nvPr/>
        </p:nvSpPr>
        <p:spPr>
          <a:xfrm>
            <a:off x="6224585" y="758787"/>
            <a:ext cx="5510215" cy="369332"/>
          </a:xfrm>
          <a:prstGeom prst="rect">
            <a:avLst/>
          </a:prstGeom>
          <a:noFill/>
        </p:spPr>
        <p:txBody>
          <a:bodyPr wrap="square" rtlCol="0">
            <a:spAutoFit/>
          </a:bodyPr>
          <a:lstStyle/>
          <a:p>
            <a:pPr algn="just"/>
            <a:r>
              <a:rPr lang="es-ES" sz="900" dirty="0">
                <a:latin typeface="Times New Roman" panose="02020603050405020304" pitchFamily="18" charset="0"/>
                <a:cs typeface="Times New Roman" panose="02020603050405020304" pitchFamily="18" charset="0"/>
              </a:rPr>
              <a:t>Subconjunto de conocimientos y prácticas de la dirección de proyectos generalmente reconocidas y aplicables a la mayoría de los proyectos. La aplicación de estos conocimientos aumenta las posibilidades de éxito del proyecto.</a:t>
            </a:r>
            <a:endParaRPr lang="es-MX" sz="900" dirty="0">
              <a:latin typeface="Times New Roman" panose="02020603050405020304" pitchFamily="18" charset="0"/>
              <a:cs typeface="Times New Roman" panose="02020603050405020304" pitchFamily="18" charset="0"/>
            </a:endParaRPr>
          </a:p>
        </p:txBody>
      </p:sp>
      <p:sp>
        <p:nvSpPr>
          <p:cNvPr id="26" name="Abrir llave 25">
            <a:extLst>
              <a:ext uri="{FF2B5EF4-FFF2-40B4-BE49-F238E27FC236}">
                <a16:creationId xmlns:a16="http://schemas.microsoft.com/office/drawing/2014/main" id="{D29997F4-2041-719D-CCD9-2A5497ECD577}"/>
              </a:ext>
            </a:extLst>
          </p:cNvPr>
          <p:cNvSpPr/>
          <p:nvPr/>
        </p:nvSpPr>
        <p:spPr>
          <a:xfrm>
            <a:off x="6096000" y="1213537"/>
            <a:ext cx="257170" cy="369332"/>
          </a:xfrm>
          <a:prstGeom prst="leftBrace">
            <a:avLst/>
          </a:prstGeom>
          <a:noFill/>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7" name="CuadroTexto 26">
            <a:extLst>
              <a:ext uri="{FF2B5EF4-FFF2-40B4-BE49-F238E27FC236}">
                <a16:creationId xmlns:a16="http://schemas.microsoft.com/office/drawing/2014/main" id="{0E67FD7E-F3A4-F72E-A2D9-2ED28E2F9C5D}"/>
              </a:ext>
            </a:extLst>
          </p:cNvPr>
          <p:cNvSpPr txBox="1"/>
          <p:nvPr/>
        </p:nvSpPr>
        <p:spPr>
          <a:xfrm>
            <a:off x="6224585" y="1250196"/>
            <a:ext cx="5815015" cy="230832"/>
          </a:xfrm>
          <a:prstGeom prst="rect">
            <a:avLst/>
          </a:prstGeom>
          <a:noFill/>
        </p:spPr>
        <p:txBody>
          <a:bodyPr wrap="square" rtlCol="0">
            <a:spAutoFit/>
          </a:bodyPr>
          <a:lstStyle/>
          <a:p>
            <a:pPr algn="just"/>
            <a:r>
              <a:rPr lang="es-ES" sz="900" dirty="0">
                <a:latin typeface="Times New Roman" panose="02020603050405020304" pitchFamily="18" charset="0"/>
                <a:cs typeface="Times New Roman" panose="02020603050405020304" pitchFamily="18" charset="0"/>
              </a:rPr>
              <a:t>Gestionan proyectos interrelacionados para obtener beneficios coordinados (ej. un nuevo sistema satelital) </a:t>
            </a:r>
            <a:endParaRPr lang="es-MX" sz="900" dirty="0">
              <a:latin typeface="Times New Roman" panose="02020603050405020304" pitchFamily="18" charset="0"/>
              <a:cs typeface="Times New Roman" panose="02020603050405020304" pitchFamily="18" charset="0"/>
            </a:endParaRPr>
          </a:p>
        </p:txBody>
      </p:sp>
      <p:sp>
        <p:nvSpPr>
          <p:cNvPr id="28" name="Abrir llave 27">
            <a:extLst>
              <a:ext uri="{FF2B5EF4-FFF2-40B4-BE49-F238E27FC236}">
                <a16:creationId xmlns:a16="http://schemas.microsoft.com/office/drawing/2014/main" id="{D1410A48-BCCB-3693-0403-FBB6D9C727BC}"/>
              </a:ext>
            </a:extLst>
          </p:cNvPr>
          <p:cNvSpPr/>
          <p:nvPr/>
        </p:nvSpPr>
        <p:spPr>
          <a:xfrm>
            <a:off x="6096000" y="1688665"/>
            <a:ext cx="257170" cy="369332"/>
          </a:xfrm>
          <a:prstGeom prst="leftBrace">
            <a:avLst/>
          </a:prstGeom>
          <a:noFill/>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9" name="CuadroTexto 28">
            <a:extLst>
              <a:ext uri="{FF2B5EF4-FFF2-40B4-BE49-F238E27FC236}">
                <a16:creationId xmlns:a16="http://schemas.microsoft.com/office/drawing/2014/main" id="{6AEE6B7A-CD12-B304-D716-589963B115B8}"/>
              </a:ext>
            </a:extLst>
          </p:cNvPr>
          <p:cNvSpPr txBox="1"/>
          <p:nvPr/>
        </p:nvSpPr>
        <p:spPr>
          <a:xfrm>
            <a:off x="6224585" y="1688665"/>
            <a:ext cx="5510215" cy="369332"/>
          </a:xfrm>
          <a:prstGeom prst="rect">
            <a:avLst/>
          </a:prstGeom>
          <a:noFill/>
        </p:spPr>
        <p:txBody>
          <a:bodyPr wrap="square" rtlCol="0">
            <a:spAutoFit/>
          </a:bodyPr>
          <a:lstStyle/>
          <a:p>
            <a:pPr algn="just"/>
            <a:r>
              <a:rPr lang="es-ES" sz="900" dirty="0">
                <a:latin typeface="Times New Roman" panose="02020603050405020304" pitchFamily="18" charset="0"/>
                <a:cs typeface="Times New Roman" panose="02020603050405020304" pitchFamily="18" charset="0"/>
              </a:rPr>
              <a:t>Gestionan un conjunto de proyectos, programas y operaciones para alcanzar objetivos estratégicos (ej. maximizar el retorno de inversión) .</a:t>
            </a:r>
            <a:endParaRPr lang="es-MX" sz="900" dirty="0">
              <a:latin typeface="Times New Roman" panose="02020603050405020304" pitchFamily="18" charset="0"/>
              <a:cs typeface="Times New Roman" panose="02020603050405020304" pitchFamily="18" charset="0"/>
            </a:endParaRPr>
          </a:p>
        </p:txBody>
      </p:sp>
      <p:sp>
        <p:nvSpPr>
          <p:cNvPr id="30" name="CuadroTexto 29">
            <a:extLst>
              <a:ext uri="{FF2B5EF4-FFF2-40B4-BE49-F238E27FC236}">
                <a16:creationId xmlns:a16="http://schemas.microsoft.com/office/drawing/2014/main" id="{50771F1D-89B5-46F0-DB80-AD6AA1843C6D}"/>
              </a:ext>
            </a:extLst>
          </p:cNvPr>
          <p:cNvSpPr txBox="1"/>
          <p:nvPr/>
        </p:nvSpPr>
        <p:spPr>
          <a:xfrm>
            <a:off x="5453070" y="2183862"/>
            <a:ext cx="1104898" cy="246221"/>
          </a:xfrm>
          <a:prstGeom prst="rect">
            <a:avLst/>
          </a:prstGeom>
          <a:noFill/>
        </p:spPr>
        <p:txBody>
          <a:bodyPr wrap="square" rtlCol="0">
            <a:spAutoFit/>
          </a:bodyPr>
          <a:lstStyle/>
          <a:p>
            <a:r>
              <a:rPr lang="es-ES" sz="1000" dirty="0">
                <a:solidFill>
                  <a:srgbClr val="FF0000"/>
                </a:solidFill>
                <a:latin typeface="Times New Roman" panose="02020603050405020304" pitchFamily="18" charset="0"/>
                <a:cs typeface="Times New Roman" panose="02020603050405020304" pitchFamily="18" charset="0"/>
              </a:rPr>
              <a:t>PMO</a:t>
            </a:r>
            <a:endParaRPr lang="es-MX" sz="1000" dirty="0">
              <a:solidFill>
                <a:srgbClr val="FF0000"/>
              </a:solidFill>
              <a:latin typeface="Times New Roman" panose="02020603050405020304" pitchFamily="18" charset="0"/>
              <a:cs typeface="Times New Roman" panose="02020603050405020304" pitchFamily="18" charset="0"/>
            </a:endParaRPr>
          </a:p>
        </p:txBody>
      </p:sp>
      <p:sp>
        <p:nvSpPr>
          <p:cNvPr id="31" name="Abrir llave 30">
            <a:extLst>
              <a:ext uri="{FF2B5EF4-FFF2-40B4-BE49-F238E27FC236}">
                <a16:creationId xmlns:a16="http://schemas.microsoft.com/office/drawing/2014/main" id="{00FFB4D3-750C-8895-0EDB-182E9BC74BC5}"/>
              </a:ext>
            </a:extLst>
          </p:cNvPr>
          <p:cNvSpPr/>
          <p:nvPr/>
        </p:nvSpPr>
        <p:spPr>
          <a:xfrm>
            <a:off x="6096000" y="2141974"/>
            <a:ext cx="257170" cy="369332"/>
          </a:xfrm>
          <a:prstGeom prst="leftBrace">
            <a:avLst/>
          </a:prstGeom>
          <a:noFill/>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32" name="CuadroTexto 31">
            <a:extLst>
              <a:ext uri="{FF2B5EF4-FFF2-40B4-BE49-F238E27FC236}">
                <a16:creationId xmlns:a16="http://schemas.microsoft.com/office/drawing/2014/main" id="{DF267CBD-586A-59A5-AA6D-A3E70ED7D51B}"/>
              </a:ext>
            </a:extLst>
          </p:cNvPr>
          <p:cNvSpPr txBox="1"/>
          <p:nvPr/>
        </p:nvSpPr>
        <p:spPr>
          <a:xfrm>
            <a:off x="6224585" y="2191556"/>
            <a:ext cx="5815015" cy="230832"/>
          </a:xfrm>
          <a:prstGeom prst="rect">
            <a:avLst/>
          </a:prstGeom>
          <a:noFill/>
        </p:spPr>
        <p:txBody>
          <a:bodyPr wrap="square" rtlCol="0">
            <a:spAutoFit/>
          </a:bodyPr>
          <a:lstStyle/>
          <a:p>
            <a:pPr algn="just"/>
            <a:r>
              <a:rPr lang="es-ES" sz="900" dirty="0">
                <a:latin typeface="Times New Roman" panose="02020603050405020304" pitchFamily="18" charset="0"/>
                <a:cs typeface="Times New Roman" panose="02020603050405020304" pitchFamily="18" charset="0"/>
              </a:rPr>
              <a:t>Una estructura que estandariza procesos de gobierno y facilita recursos, metodologías y herramientas</a:t>
            </a:r>
            <a:endParaRPr lang="es-MX" sz="900" dirty="0">
              <a:latin typeface="Times New Roman" panose="02020603050405020304" pitchFamily="18" charset="0"/>
              <a:cs typeface="Times New Roman" panose="02020603050405020304" pitchFamily="18" charset="0"/>
            </a:endParaRPr>
          </a:p>
        </p:txBody>
      </p:sp>
      <p:sp>
        <p:nvSpPr>
          <p:cNvPr id="33" name="Abrir llave 32">
            <a:extLst>
              <a:ext uri="{FF2B5EF4-FFF2-40B4-BE49-F238E27FC236}">
                <a16:creationId xmlns:a16="http://schemas.microsoft.com/office/drawing/2014/main" id="{21775F5A-7170-EA6C-9321-654EF63514D1}"/>
              </a:ext>
            </a:extLst>
          </p:cNvPr>
          <p:cNvSpPr/>
          <p:nvPr/>
        </p:nvSpPr>
        <p:spPr>
          <a:xfrm>
            <a:off x="3724273" y="2820608"/>
            <a:ext cx="323854" cy="1826874"/>
          </a:xfrm>
          <a:prstGeom prst="leftBrace">
            <a:avLst>
              <a:gd name="adj1" fmla="val 8333"/>
              <a:gd name="adj2" fmla="val 53102"/>
            </a:avLst>
          </a:prstGeom>
          <a:noFill/>
          <a:ln>
            <a:solidFill>
              <a:srgbClr val="7030A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ln>
                <a:solidFill>
                  <a:srgbClr val="FF0000"/>
                </a:solidFill>
              </a:ln>
              <a:solidFill>
                <a:srgbClr val="7030A0"/>
              </a:solidFill>
            </a:endParaRPr>
          </a:p>
        </p:txBody>
      </p:sp>
      <p:sp>
        <p:nvSpPr>
          <p:cNvPr id="34" name="CuadroTexto 33">
            <a:extLst>
              <a:ext uri="{FF2B5EF4-FFF2-40B4-BE49-F238E27FC236}">
                <a16:creationId xmlns:a16="http://schemas.microsoft.com/office/drawing/2014/main" id="{8DAB52A7-472C-6AE6-7A51-DA8206169966}"/>
              </a:ext>
            </a:extLst>
          </p:cNvPr>
          <p:cNvSpPr txBox="1"/>
          <p:nvPr/>
        </p:nvSpPr>
        <p:spPr>
          <a:xfrm>
            <a:off x="3962400" y="2917061"/>
            <a:ext cx="1490670" cy="400110"/>
          </a:xfrm>
          <a:prstGeom prst="rect">
            <a:avLst/>
          </a:prstGeom>
          <a:noFill/>
        </p:spPr>
        <p:txBody>
          <a:bodyPr wrap="square" rtlCol="0">
            <a:spAutoFit/>
          </a:bodyPr>
          <a:lstStyle/>
          <a:p>
            <a:r>
              <a:rPr lang="es-ES" sz="1000" dirty="0">
                <a:solidFill>
                  <a:srgbClr val="7030A0"/>
                </a:solidFill>
                <a:latin typeface="Times New Roman" panose="02020603050405020304" pitchFamily="18" charset="0"/>
                <a:cs typeface="Times New Roman" panose="02020603050405020304" pitchFamily="18" charset="0"/>
              </a:rPr>
              <a:t>Gestión de operaciones vs. proyectos</a:t>
            </a:r>
            <a:endParaRPr lang="es-MX" sz="1000" dirty="0">
              <a:solidFill>
                <a:srgbClr val="7030A0"/>
              </a:solidFill>
              <a:latin typeface="Times New Roman" panose="02020603050405020304" pitchFamily="18" charset="0"/>
              <a:cs typeface="Times New Roman" panose="02020603050405020304" pitchFamily="18" charset="0"/>
            </a:endParaRPr>
          </a:p>
        </p:txBody>
      </p:sp>
      <p:sp>
        <p:nvSpPr>
          <p:cNvPr id="35" name="CuadroTexto 34">
            <a:extLst>
              <a:ext uri="{FF2B5EF4-FFF2-40B4-BE49-F238E27FC236}">
                <a16:creationId xmlns:a16="http://schemas.microsoft.com/office/drawing/2014/main" id="{54988A10-10F6-F590-E32F-15BB459CCDC8}"/>
              </a:ext>
            </a:extLst>
          </p:cNvPr>
          <p:cNvSpPr txBox="1"/>
          <p:nvPr/>
        </p:nvSpPr>
        <p:spPr>
          <a:xfrm>
            <a:off x="3962400" y="3399480"/>
            <a:ext cx="1490670" cy="400110"/>
          </a:xfrm>
          <a:prstGeom prst="rect">
            <a:avLst/>
          </a:prstGeom>
          <a:noFill/>
        </p:spPr>
        <p:txBody>
          <a:bodyPr wrap="square" rtlCol="0">
            <a:spAutoFit/>
          </a:bodyPr>
          <a:lstStyle/>
          <a:p>
            <a:r>
              <a:rPr lang="es-ES" sz="1000" dirty="0">
                <a:solidFill>
                  <a:srgbClr val="7030A0"/>
                </a:solidFill>
                <a:latin typeface="Times New Roman" panose="02020603050405020304" pitchFamily="18" charset="0"/>
                <a:cs typeface="Times New Roman" panose="02020603050405020304" pitchFamily="18" charset="0"/>
              </a:rPr>
              <a:t>Intersecciones y colaboración</a:t>
            </a:r>
            <a:endParaRPr lang="es-MX" sz="1000" dirty="0">
              <a:solidFill>
                <a:srgbClr val="7030A0"/>
              </a:solidFill>
              <a:latin typeface="Times New Roman" panose="02020603050405020304" pitchFamily="18" charset="0"/>
              <a:cs typeface="Times New Roman" panose="02020603050405020304" pitchFamily="18" charset="0"/>
            </a:endParaRPr>
          </a:p>
        </p:txBody>
      </p:sp>
      <p:sp>
        <p:nvSpPr>
          <p:cNvPr id="36" name="CuadroTexto 35">
            <a:extLst>
              <a:ext uri="{FF2B5EF4-FFF2-40B4-BE49-F238E27FC236}">
                <a16:creationId xmlns:a16="http://schemas.microsoft.com/office/drawing/2014/main" id="{57E95F37-DFFB-263A-7A19-40A0B2D55AC1}"/>
              </a:ext>
            </a:extLst>
          </p:cNvPr>
          <p:cNvSpPr txBox="1"/>
          <p:nvPr/>
        </p:nvSpPr>
        <p:spPr>
          <a:xfrm>
            <a:off x="3962400" y="4014461"/>
            <a:ext cx="1490670" cy="400110"/>
          </a:xfrm>
          <a:prstGeom prst="rect">
            <a:avLst/>
          </a:prstGeom>
          <a:noFill/>
        </p:spPr>
        <p:txBody>
          <a:bodyPr wrap="square" rtlCol="0">
            <a:spAutoFit/>
          </a:bodyPr>
          <a:lstStyle/>
          <a:p>
            <a:r>
              <a:rPr lang="es-ES" sz="1000" dirty="0">
                <a:solidFill>
                  <a:srgbClr val="7030A0"/>
                </a:solidFill>
                <a:latin typeface="Times New Roman" panose="02020603050405020304" pitchFamily="18" charset="0"/>
                <a:cs typeface="Times New Roman" panose="02020603050405020304" pitchFamily="18" charset="0"/>
              </a:rPr>
              <a:t>Alineación con la estrategia</a:t>
            </a:r>
            <a:endParaRPr lang="es-MX" sz="1000" dirty="0">
              <a:solidFill>
                <a:srgbClr val="7030A0"/>
              </a:solidFill>
              <a:latin typeface="Times New Roman" panose="02020603050405020304" pitchFamily="18" charset="0"/>
              <a:cs typeface="Times New Roman" panose="02020603050405020304" pitchFamily="18" charset="0"/>
            </a:endParaRPr>
          </a:p>
        </p:txBody>
      </p:sp>
      <p:sp>
        <p:nvSpPr>
          <p:cNvPr id="37" name="Abrir llave 36">
            <a:extLst>
              <a:ext uri="{FF2B5EF4-FFF2-40B4-BE49-F238E27FC236}">
                <a16:creationId xmlns:a16="http://schemas.microsoft.com/office/drawing/2014/main" id="{5E99BE36-6EC6-AF25-351E-56B10962C79F}"/>
              </a:ext>
            </a:extLst>
          </p:cNvPr>
          <p:cNvSpPr/>
          <p:nvPr/>
        </p:nvSpPr>
        <p:spPr>
          <a:xfrm>
            <a:off x="5295934" y="2749249"/>
            <a:ext cx="257170" cy="530676"/>
          </a:xfrm>
          <a:prstGeom prst="leftBrace">
            <a:avLst/>
          </a:prstGeom>
          <a:noFill/>
          <a:ln>
            <a:solidFill>
              <a:srgbClr val="7030A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38" name="CuadroTexto 37">
            <a:extLst>
              <a:ext uri="{FF2B5EF4-FFF2-40B4-BE49-F238E27FC236}">
                <a16:creationId xmlns:a16="http://schemas.microsoft.com/office/drawing/2014/main" id="{40518C00-1B5A-548A-8336-D7A28E086F76}"/>
              </a:ext>
            </a:extLst>
          </p:cNvPr>
          <p:cNvSpPr txBox="1"/>
          <p:nvPr/>
        </p:nvSpPr>
        <p:spPr>
          <a:xfrm>
            <a:off x="5486407" y="2724681"/>
            <a:ext cx="6248393" cy="553998"/>
          </a:xfrm>
          <a:prstGeom prst="rect">
            <a:avLst/>
          </a:prstGeom>
          <a:noFill/>
          <a:ln>
            <a:noFill/>
          </a:ln>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La gestión de operaciones es continua y produce resultados repetitivos. Los proyectos son temporales y crean resultados únicos; los proyectos pueden dar lugar a cambios sustanciales en las operaciones, como la introducción de un nuevo producto o servicio.</a:t>
            </a:r>
            <a:endParaRPr lang="es-MX" sz="1000" dirty="0">
              <a:latin typeface="Times New Roman" panose="02020603050405020304" pitchFamily="18" charset="0"/>
              <a:cs typeface="Times New Roman" panose="02020603050405020304" pitchFamily="18" charset="0"/>
            </a:endParaRPr>
          </a:p>
        </p:txBody>
      </p:sp>
      <p:sp>
        <p:nvSpPr>
          <p:cNvPr id="39" name="Abrir llave 38">
            <a:extLst>
              <a:ext uri="{FF2B5EF4-FFF2-40B4-BE49-F238E27FC236}">
                <a16:creationId xmlns:a16="http://schemas.microsoft.com/office/drawing/2014/main" id="{5B72807F-9044-0925-9E0A-266858BCC5A8}"/>
              </a:ext>
            </a:extLst>
          </p:cNvPr>
          <p:cNvSpPr/>
          <p:nvPr/>
        </p:nvSpPr>
        <p:spPr>
          <a:xfrm>
            <a:off x="5295934" y="3329004"/>
            <a:ext cx="257170" cy="530676"/>
          </a:xfrm>
          <a:prstGeom prst="leftBrace">
            <a:avLst/>
          </a:prstGeom>
          <a:noFill/>
          <a:ln>
            <a:solidFill>
              <a:srgbClr val="7030A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40" name="CuadroTexto 39">
            <a:extLst>
              <a:ext uri="{FF2B5EF4-FFF2-40B4-BE49-F238E27FC236}">
                <a16:creationId xmlns:a16="http://schemas.microsoft.com/office/drawing/2014/main" id="{7B1F85F4-FBE5-F258-3E79-8BF44761CAE9}"/>
              </a:ext>
            </a:extLst>
          </p:cNvPr>
          <p:cNvSpPr txBox="1"/>
          <p:nvPr/>
        </p:nvSpPr>
        <p:spPr>
          <a:xfrm>
            <a:off x="5486407" y="3305682"/>
            <a:ext cx="6248394"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Los proyectos pueden interactuar con las operaciones en varios puntos del ciclo de vida del producto (ej. al cierre de cada fase). En estos puntos, se transfiere conocimiento y entregables entre el proyecto y las operaciones. Los directores de proyecto deben involucrar a los interesados operacionales para evitar problemas.</a:t>
            </a:r>
            <a:endParaRPr lang="es-MX" sz="1000" dirty="0">
              <a:latin typeface="Times New Roman" panose="02020603050405020304" pitchFamily="18" charset="0"/>
              <a:cs typeface="Times New Roman" panose="02020603050405020304" pitchFamily="18" charset="0"/>
            </a:endParaRPr>
          </a:p>
        </p:txBody>
      </p:sp>
      <p:sp>
        <p:nvSpPr>
          <p:cNvPr id="41" name="Abrir llave 40">
            <a:extLst>
              <a:ext uri="{FF2B5EF4-FFF2-40B4-BE49-F238E27FC236}">
                <a16:creationId xmlns:a16="http://schemas.microsoft.com/office/drawing/2014/main" id="{547FCB76-77CD-B833-416F-1F4CCC6CA6EC}"/>
              </a:ext>
            </a:extLst>
          </p:cNvPr>
          <p:cNvSpPr/>
          <p:nvPr/>
        </p:nvSpPr>
        <p:spPr>
          <a:xfrm>
            <a:off x="5295934" y="3932081"/>
            <a:ext cx="257170" cy="530676"/>
          </a:xfrm>
          <a:prstGeom prst="leftBrace">
            <a:avLst/>
          </a:prstGeom>
          <a:noFill/>
          <a:ln>
            <a:solidFill>
              <a:srgbClr val="7030A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42" name="CuadroTexto 41">
            <a:extLst>
              <a:ext uri="{FF2B5EF4-FFF2-40B4-BE49-F238E27FC236}">
                <a16:creationId xmlns:a16="http://schemas.microsoft.com/office/drawing/2014/main" id="{9027120F-1B94-1762-8AC5-264D404E8988}"/>
              </a:ext>
            </a:extLst>
          </p:cNvPr>
          <p:cNvSpPr txBox="1"/>
          <p:nvPr/>
        </p:nvSpPr>
        <p:spPr>
          <a:xfrm>
            <a:off x="5486406" y="3908759"/>
            <a:ext cx="6248393"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Las actividades de dirección de proyectos deben estar alineadas con la dirección estratégica de alto nivel de la organización-Cuando los objetivos del proyecto entran en conflicto con la estrategia organizacional, el director del proyecto debe identificarlo y documentarlo.</a:t>
            </a:r>
            <a:endParaRPr lang="es-MX" sz="1000" dirty="0">
              <a:latin typeface="Times New Roman" panose="02020603050405020304" pitchFamily="18" charset="0"/>
              <a:cs typeface="Times New Roman" panose="02020603050405020304" pitchFamily="18" charset="0"/>
            </a:endParaRPr>
          </a:p>
        </p:txBody>
      </p:sp>
      <p:sp>
        <p:nvSpPr>
          <p:cNvPr id="44" name="CuadroTexto 43">
            <a:extLst>
              <a:ext uri="{FF2B5EF4-FFF2-40B4-BE49-F238E27FC236}">
                <a16:creationId xmlns:a16="http://schemas.microsoft.com/office/drawing/2014/main" id="{E41C7A8B-D1C7-625D-1FA8-6E20CB09FD56}"/>
              </a:ext>
            </a:extLst>
          </p:cNvPr>
          <p:cNvSpPr txBox="1"/>
          <p:nvPr/>
        </p:nvSpPr>
        <p:spPr>
          <a:xfrm>
            <a:off x="1304924" y="5745269"/>
            <a:ext cx="1409699" cy="276999"/>
          </a:xfrm>
          <a:prstGeom prst="rect">
            <a:avLst/>
          </a:prstGeom>
          <a:noFill/>
        </p:spPr>
        <p:txBody>
          <a:bodyPr wrap="square" rtlCol="0">
            <a:spAutoFit/>
          </a:bodyPr>
          <a:lstStyle/>
          <a:p>
            <a:r>
              <a:rPr lang="es-ES" sz="1200" dirty="0">
                <a:solidFill>
                  <a:srgbClr val="F137F5"/>
                </a:solidFill>
                <a:latin typeface="Bauhaus 93" panose="04030905020B02020C02" pitchFamily="82" charset="0"/>
                <a:cs typeface="Aharoni" panose="02010803020104030203" pitchFamily="2" charset="-79"/>
              </a:rPr>
              <a:t>Valor del Negocio</a:t>
            </a:r>
            <a:endParaRPr lang="es-MX" sz="1200" dirty="0">
              <a:solidFill>
                <a:srgbClr val="F137F5"/>
              </a:solidFill>
              <a:latin typeface="Bauhaus 93" panose="04030905020B02020C02" pitchFamily="82" charset="0"/>
              <a:cs typeface="Aharoni" panose="02010803020104030203" pitchFamily="2" charset="-79"/>
            </a:endParaRPr>
          </a:p>
        </p:txBody>
      </p:sp>
      <p:sp>
        <p:nvSpPr>
          <p:cNvPr id="45" name="Abrir llave 44">
            <a:extLst>
              <a:ext uri="{FF2B5EF4-FFF2-40B4-BE49-F238E27FC236}">
                <a16:creationId xmlns:a16="http://schemas.microsoft.com/office/drawing/2014/main" id="{A75A2C8E-21D4-E6C2-54FD-FB125D91D20A}"/>
              </a:ext>
            </a:extLst>
          </p:cNvPr>
          <p:cNvSpPr/>
          <p:nvPr/>
        </p:nvSpPr>
        <p:spPr>
          <a:xfrm>
            <a:off x="2676525" y="5095875"/>
            <a:ext cx="323854" cy="1219199"/>
          </a:xfrm>
          <a:prstGeom prst="leftBrace">
            <a:avLst>
              <a:gd name="adj1" fmla="val 8333"/>
              <a:gd name="adj2" fmla="val 53102"/>
            </a:avLst>
          </a:prstGeom>
          <a:noFill/>
          <a:ln>
            <a:solidFill>
              <a:srgbClr val="F137F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ln>
                <a:solidFill>
                  <a:srgbClr val="FF0000"/>
                </a:solidFill>
              </a:ln>
              <a:solidFill>
                <a:srgbClr val="F137F5"/>
              </a:solidFill>
            </a:endParaRPr>
          </a:p>
        </p:txBody>
      </p:sp>
      <p:sp>
        <p:nvSpPr>
          <p:cNvPr id="46" name="CuadroTexto 45">
            <a:extLst>
              <a:ext uri="{FF2B5EF4-FFF2-40B4-BE49-F238E27FC236}">
                <a16:creationId xmlns:a16="http://schemas.microsoft.com/office/drawing/2014/main" id="{4CA620A2-12AE-1F8D-7B86-6644F00BADE2}"/>
              </a:ext>
            </a:extLst>
          </p:cNvPr>
          <p:cNvSpPr txBox="1"/>
          <p:nvPr/>
        </p:nvSpPr>
        <p:spPr>
          <a:xfrm>
            <a:off x="2936077" y="5213464"/>
            <a:ext cx="1919295" cy="246221"/>
          </a:xfrm>
          <a:prstGeom prst="rect">
            <a:avLst/>
          </a:prstGeom>
          <a:noFill/>
        </p:spPr>
        <p:txBody>
          <a:bodyPr wrap="square" rtlCol="0">
            <a:spAutoFit/>
          </a:bodyPr>
          <a:lstStyle/>
          <a:p>
            <a:r>
              <a:rPr lang="es-ES" sz="1000" dirty="0">
                <a:solidFill>
                  <a:srgbClr val="F137F5"/>
                </a:solidFill>
                <a:latin typeface="Times New Roman" panose="02020603050405020304" pitchFamily="18" charset="0"/>
                <a:cs typeface="Times New Roman" panose="02020603050405020304" pitchFamily="18" charset="0"/>
              </a:rPr>
              <a:t>Definición de valor de negocio</a:t>
            </a:r>
            <a:endParaRPr lang="es-MX" sz="1000" dirty="0">
              <a:solidFill>
                <a:srgbClr val="F137F5"/>
              </a:solidFill>
              <a:latin typeface="Times New Roman" panose="02020603050405020304" pitchFamily="18" charset="0"/>
              <a:cs typeface="Times New Roman" panose="02020603050405020304" pitchFamily="18" charset="0"/>
            </a:endParaRPr>
          </a:p>
        </p:txBody>
      </p:sp>
      <p:sp>
        <p:nvSpPr>
          <p:cNvPr id="49" name="CuadroTexto 48">
            <a:extLst>
              <a:ext uri="{FF2B5EF4-FFF2-40B4-BE49-F238E27FC236}">
                <a16:creationId xmlns:a16="http://schemas.microsoft.com/office/drawing/2014/main" id="{618C4584-0DE8-51FF-4E38-F8A64B75687A}"/>
              </a:ext>
            </a:extLst>
          </p:cNvPr>
          <p:cNvSpPr txBox="1"/>
          <p:nvPr/>
        </p:nvSpPr>
        <p:spPr>
          <a:xfrm>
            <a:off x="2926552" y="5907802"/>
            <a:ext cx="1919295" cy="246221"/>
          </a:xfrm>
          <a:prstGeom prst="rect">
            <a:avLst/>
          </a:prstGeom>
          <a:noFill/>
        </p:spPr>
        <p:txBody>
          <a:bodyPr wrap="square" rtlCol="0">
            <a:spAutoFit/>
          </a:bodyPr>
          <a:lstStyle/>
          <a:p>
            <a:r>
              <a:rPr lang="es-ES" sz="1000" dirty="0">
                <a:solidFill>
                  <a:srgbClr val="F137F5"/>
                </a:solidFill>
                <a:latin typeface="Times New Roman" panose="02020603050405020304" pitchFamily="18" charset="0"/>
                <a:cs typeface="Times New Roman" panose="02020603050405020304" pitchFamily="18" charset="0"/>
              </a:rPr>
              <a:t>Creación de valor</a:t>
            </a:r>
            <a:endParaRPr lang="es-MX" sz="1000" dirty="0">
              <a:solidFill>
                <a:srgbClr val="F137F5"/>
              </a:solidFill>
              <a:latin typeface="Times New Roman" panose="02020603050405020304" pitchFamily="18" charset="0"/>
              <a:cs typeface="Times New Roman" panose="02020603050405020304" pitchFamily="18" charset="0"/>
            </a:endParaRPr>
          </a:p>
        </p:txBody>
      </p:sp>
      <p:sp>
        <p:nvSpPr>
          <p:cNvPr id="50" name="Abrir llave 49">
            <a:extLst>
              <a:ext uri="{FF2B5EF4-FFF2-40B4-BE49-F238E27FC236}">
                <a16:creationId xmlns:a16="http://schemas.microsoft.com/office/drawing/2014/main" id="{989B3523-2A4A-D480-7E26-CA0E569CB94B}"/>
              </a:ext>
            </a:extLst>
          </p:cNvPr>
          <p:cNvSpPr/>
          <p:nvPr/>
        </p:nvSpPr>
        <p:spPr>
          <a:xfrm>
            <a:off x="4679160" y="5079502"/>
            <a:ext cx="257170" cy="530676"/>
          </a:xfrm>
          <a:prstGeom prst="leftBrace">
            <a:avLst/>
          </a:prstGeom>
          <a:noFill/>
          <a:ln>
            <a:solidFill>
              <a:srgbClr val="F137F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51" name="Abrir llave 50">
            <a:extLst>
              <a:ext uri="{FF2B5EF4-FFF2-40B4-BE49-F238E27FC236}">
                <a16:creationId xmlns:a16="http://schemas.microsoft.com/office/drawing/2014/main" id="{01E9195C-FF31-975B-31A8-1E24435C2B31}"/>
              </a:ext>
            </a:extLst>
          </p:cNvPr>
          <p:cNvSpPr/>
          <p:nvPr/>
        </p:nvSpPr>
        <p:spPr>
          <a:xfrm>
            <a:off x="4679160" y="5681332"/>
            <a:ext cx="257170" cy="699163"/>
          </a:xfrm>
          <a:prstGeom prst="leftBrace">
            <a:avLst/>
          </a:prstGeom>
          <a:noFill/>
          <a:ln>
            <a:solidFill>
              <a:srgbClr val="F137F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52" name="CuadroTexto 51">
            <a:extLst>
              <a:ext uri="{FF2B5EF4-FFF2-40B4-BE49-F238E27FC236}">
                <a16:creationId xmlns:a16="http://schemas.microsoft.com/office/drawing/2014/main" id="{FEEEB1B1-29BB-BA7B-7909-26FEB6E07BF6}"/>
              </a:ext>
            </a:extLst>
          </p:cNvPr>
          <p:cNvSpPr txBox="1"/>
          <p:nvPr/>
        </p:nvSpPr>
        <p:spPr>
          <a:xfrm>
            <a:off x="4845847" y="5046741"/>
            <a:ext cx="6888952" cy="553998"/>
          </a:xfrm>
          <a:prstGeom prst="rect">
            <a:avLst/>
          </a:prstGeom>
          <a:noFill/>
          <a:ln>
            <a:noFill/>
          </a:ln>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El valor de negocio es la suma total de elementos tangibles e intangibles de una organización. los elementos tangibles incluyen activos monetarios, equipos, y capital; los elementos intangibles incluyen el reconocimiento de marca, la buena voluntad y las marcas registradas.</a:t>
            </a:r>
            <a:endParaRPr lang="es-MX" sz="1000" dirty="0">
              <a:latin typeface="Times New Roman" panose="02020603050405020304" pitchFamily="18" charset="0"/>
              <a:cs typeface="Times New Roman" panose="02020603050405020304" pitchFamily="18" charset="0"/>
            </a:endParaRPr>
          </a:p>
        </p:txBody>
      </p:sp>
      <p:sp>
        <p:nvSpPr>
          <p:cNvPr id="53" name="CuadroTexto 52">
            <a:extLst>
              <a:ext uri="{FF2B5EF4-FFF2-40B4-BE49-F238E27FC236}">
                <a16:creationId xmlns:a16="http://schemas.microsoft.com/office/drawing/2014/main" id="{C39DBA7F-8619-48BE-EDF4-D4FC4A23C5D9}"/>
              </a:ext>
            </a:extLst>
          </p:cNvPr>
          <p:cNvSpPr txBox="1"/>
          <p:nvPr/>
        </p:nvSpPr>
        <p:spPr>
          <a:xfrm>
            <a:off x="4807745" y="5637969"/>
            <a:ext cx="6888952" cy="707886"/>
          </a:xfrm>
          <a:prstGeom prst="rect">
            <a:avLst/>
          </a:prstGeom>
          <a:noFill/>
          <a:ln>
            <a:noFill/>
          </a:ln>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Se puede crear valor a través de la gestión eficaz de operaciones y la dirección de portafolios, programas y proyectos, la dirección de portafolios alinea los componentes con la estrategia organizacional para optimizar recursos y objetivos, la dirección de programas optimiza múltiples proyectos para lograr costos, cronogramas y beneficios. Los proyectos se centran en la entrega exitosa de productos, servicios o resultados.</a:t>
            </a:r>
            <a:endParaRPr lang="es-MX"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8880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uadroTexto 11">
            <a:extLst>
              <a:ext uri="{FF2B5EF4-FFF2-40B4-BE49-F238E27FC236}">
                <a16:creationId xmlns:a16="http://schemas.microsoft.com/office/drawing/2014/main" id="{9A213565-A381-B95A-7264-9CFAF6E67D95}"/>
              </a:ext>
            </a:extLst>
          </p:cNvPr>
          <p:cNvSpPr txBox="1"/>
          <p:nvPr/>
        </p:nvSpPr>
        <p:spPr>
          <a:xfrm>
            <a:off x="1266822" y="2084771"/>
            <a:ext cx="2419347" cy="276999"/>
          </a:xfrm>
          <a:prstGeom prst="rect">
            <a:avLst/>
          </a:prstGeom>
          <a:noFill/>
        </p:spPr>
        <p:txBody>
          <a:bodyPr wrap="square" rtlCol="0">
            <a:spAutoFit/>
          </a:bodyPr>
          <a:lstStyle/>
          <a:p>
            <a:r>
              <a:rPr lang="es-ES" sz="1200" dirty="0">
                <a:solidFill>
                  <a:srgbClr val="0070C0"/>
                </a:solidFill>
                <a:latin typeface="Bauhaus 93" panose="04030905020B02020C02" pitchFamily="82" charset="0"/>
                <a:cs typeface="Aharoni" panose="02010803020104030203" pitchFamily="2" charset="-79"/>
              </a:rPr>
              <a:t>Rol del Director del Proyecto</a:t>
            </a:r>
            <a:endParaRPr lang="es-MX" sz="1200" dirty="0">
              <a:solidFill>
                <a:srgbClr val="0070C0"/>
              </a:solidFill>
              <a:latin typeface="Bauhaus 93" panose="04030905020B02020C02" pitchFamily="82" charset="0"/>
              <a:cs typeface="Aharoni" panose="02010803020104030203" pitchFamily="2" charset="-79"/>
            </a:endParaRPr>
          </a:p>
        </p:txBody>
      </p:sp>
      <p:sp>
        <p:nvSpPr>
          <p:cNvPr id="13" name="CuadroTexto 12">
            <a:extLst>
              <a:ext uri="{FF2B5EF4-FFF2-40B4-BE49-F238E27FC236}">
                <a16:creationId xmlns:a16="http://schemas.microsoft.com/office/drawing/2014/main" id="{0759063C-D84F-042F-75E1-87F7FD0486E9}"/>
              </a:ext>
            </a:extLst>
          </p:cNvPr>
          <p:cNvSpPr txBox="1"/>
          <p:nvPr/>
        </p:nvSpPr>
        <p:spPr>
          <a:xfrm>
            <a:off x="1304924" y="4306503"/>
            <a:ext cx="2257423" cy="461665"/>
          </a:xfrm>
          <a:prstGeom prst="rect">
            <a:avLst/>
          </a:prstGeom>
          <a:noFill/>
        </p:spPr>
        <p:txBody>
          <a:bodyPr wrap="square" rtlCol="0">
            <a:spAutoFit/>
          </a:bodyPr>
          <a:lstStyle/>
          <a:p>
            <a:r>
              <a:rPr lang="es-ES" sz="1200" dirty="0">
                <a:solidFill>
                  <a:srgbClr val="FFFF00"/>
                </a:solidFill>
                <a:latin typeface="Bauhaus 93" panose="04030905020B02020C02" pitchFamily="82" charset="0"/>
                <a:cs typeface="Aharoni" panose="02010803020104030203" pitchFamily="2" charset="-79"/>
              </a:rPr>
              <a:t>Fundamentos para la Dirección de Proyectos</a:t>
            </a:r>
            <a:endParaRPr lang="es-MX" sz="1200" dirty="0">
              <a:solidFill>
                <a:srgbClr val="FFFF00"/>
              </a:solidFill>
              <a:latin typeface="Bauhaus 93" panose="04030905020B02020C02" pitchFamily="82" charset="0"/>
              <a:cs typeface="Aharoni" panose="02010803020104030203" pitchFamily="2" charset="-79"/>
            </a:endParaRPr>
          </a:p>
        </p:txBody>
      </p:sp>
      <p:sp>
        <p:nvSpPr>
          <p:cNvPr id="4" name="CuadroTexto 3">
            <a:extLst>
              <a:ext uri="{FF2B5EF4-FFF2-40B4-BE49-F238E27FC236}">
                <a16:creationId xmlns:a16="http://schemas.microsoft.com/office/drawing/2014/main" id="{35B6AD65-D6DF-9DB7-ADDB-FC651498D488}"/>
              </a:ext>
            </a:extLst>
          </p:cNvPr>
          <p:cNvSpPr txBox="1"/>
          <p:nvPr/>
        </p:nvSpPr>
        <p:spPr>
          <a:xfrm>
            <a:off x="123826" y="3290500"/>
            <a:ext cx="1009650" cy="276999"/>
          </a:xfrm>
          <a:prstGeom prst="rect">
            <a:avLst/>
          </a:prstGeom>
          <a:noFill/>
        </p:spPr>
        <p:txBody>
          <a:bodyPr wrap="square" rtlCol="0">
            <a:spAutoFit/>
          </a:bodyPr>
          <a:lstStyle/>
          <a:p>
            <a:pPr algn="ctr"/>
            <a:r>
              <a:rPr lang="es-MX" sz="1200" dirty="0">
                <a:latin typeface="Bauhaus 93" panose="04030905020B02020C02" pitchFamily="82" charset="0"/>
                <a:cs typeface="Aharoni" panose="02010803020104030203" pitchFamily="2" charset="-79"/>
              </a:rPr>
              <a:t>Capitulo 1</a:t>
            </a:r>
          </a:p>
        </p:txBody>
      </p:sp>
      <p:sp>
        <p:nvSpPr>
          <p:cNvPr id="5" name="Abrir llave 4">
            <a:extLst>
              <a:ext uri="{FF2B5EF4-FFF2-40B4-BE49-F238E27FC236}">
                <a16:creationId xmlns:a16="http://schemas.microsoft.com/office/drawing/2014/main" id="{EB1D1C58-D19A-265D-C832-106057D72F8F}"/>
              </a:ext>
            </a:extLst>
          </p:cNvPr>
          <p:cNvSpPr>
            <a:spLocks noGrp="1" noRot="1" noMove="1" noResize="1" noEditPoints="1" noAdjustHandles="1" noChangeArrowheads="1" noChangeShapeType="1"/>
          </p:cNvSpPr>
          <p:nvPr/>
        </p:nvSpPr>
        <p:spPr>
          <a:xfrm>
            <a:off x="1047754" y="542926"/>
            <a:ext cx="257170" cy="5772148"/>
          </a:xfrm>
          <a:prstGeom prst="leftBrace">
            <a:avLst/>
          </a:prstGeom>
          <a:noFill/>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6" name="Abrir llave 5">
            <a:extLst>
              <a:ext uri="{FF2B5EF4-FFF2-40B4-BE49-F238E27FC236}">
                <a16:creationId xmlns:a16="http://schemas.microsoft.com/office/drawing/2014/main" id="{20804E26-05B7-F3DE-57AD-4145CBF89F8E}"/>
              </a:ext>
            </a:extLst>
          </p:cNvPr>
          <p:cNvSpPr/>
          <p:nvPr/>
        </p:nvSpPr>
        <p:spPr>
          <a:xfrm>
            <a:off x="3419467" y="1261245"/>
            <a:ext cx="323854" cy="1977162"/>
          </a:xfrm>
          <a:prstGeom prst="leftBrace">
            <a:avLst>
              <a:gd name="adj1" fmla="val 8333"/>
              <a:gd name="adj2" fmla="val 53102"/>
            </a:avLst>
          </a:prstGeom>
          <a:noFill/>
          <a:ln>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ln>
                <a:solidFill>
                  <a:srgbClr val="FF0000"/>
                </a:solidFill>
              </a:ln>
              <a:solidFill>
                <a:srgbClr val="F137F5"/>
              </a:solidFill>
            </a:endParaRPr>
          </a:p>
        </p:txBody>
      </p:sp>
      <p:sp>
        <p:nvSpPr>
          <p:cNvPr id="7" name="Abrir llave 6">
            <a:extLst>
              <a:ext uri="{FF2B5EF4-FFF2-40B4-BE49-F238E27FC236}">
                <a16:creationId xmlns:a16="http://schemas.microsoft.com/office/drawing/2014/main" id="{EA331221-186F-31BA-1ACE-6D0EBA5C162D}"/>
              </a:ext>
            </a:extLst>
          </p:cNvPr>
          <p:cNvSpPr/>
          <p:nvPr/>
        </p:nvSpPr>
        <p:spPr>
          <a:xfrm>
            <a:off x="3400405" y="3559176"/>
            <a:ext cx="323854" cy="1847852"/>
          </a:xfrm>
          <a:prstGeom prst="leftBrace">
            <a:avLst>
              <a:gd name="adj1" fmla="val 8333"/>
              <a:gd name="adj2" fmla="val 53102"/>
            </a:avLst>
          </a:prstGeom>
          <a:noFill/>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ln>
                <a:solidFill>
                  <a:srgbClr val="FF0000"/>
                </a:solidFill>
              </a:ln>
              <a:solidFill>
                <a:srgbClr val="F137F5"/>
              </a:solidFill>
            </a:endParaRPr>
          </a:p>
        </p:txBody>
      </p:sp>
      <p:sp>
        <p:nvSpPr>
          <p:cNvPr id="8" name="CuadroTexto 7">
            <a:extLst>
              <a:ext uri="{FF2B5EF4-FFF2-40B4-BE49-F238E27FC236}">
                <a16:creationId xmlns:a16="http://schemas.microsoft.com/office/drawing/2014/main" id="{5DBF4697-6AA2-B961-DF1C-61D2995B52BC}"/>
              </a:ext>
            </a:extLst>
          </p:cNvPr>
          <p:cNvSpPr txBox="1"/>
          <p:nvPr/>
        </p:nvSpPr>
        <p:spPr>
          <a:xfrm>
            <a:off x="3686169" y="1337444"/>
            <a:ext cx="1490670" cy="246221"/>
          </a:xfrm>
          <a:prstGeom prst="rect">
            <a:avLst/>
          </a:prstGeom>
          <a:noFill/>
        </p:spPr>
        <p:txBody>
          <a:bodyPr wrap="square" rtlCol="0">
            <a:spAutoFit/>
          </a:bodyPr>
          <a:lstStyle/>
          <a:p>
            <a:r>
              <a:rPr lang="es-ES" sz="1000" dirty="0">
                <a:solidFill>
                  <a:srgbClr val="0070C0"/>
                </a:solidFill>
                <a:latin typeface="Times New Roman" panose="02020603050405020304" pitchFamily="18" charset="0"/>
                <a:cs typeface="Times New Roman" panose="02020603050405020304" pitchFamily="18" charset="0"/>
              </a:rPr>
              <a:t>Responsabilidades y rol</a:t>
            </a:r>
            <a:endParaRPr lang="es-MX" sz="1000" dirty="0">
              <a:solidFill>
                <a:srgbClr val="0070C0"/>
              </a:solidFill>
              <a:latin typeface="Times New Roman" panose="02020603050405020304" pitchFamily="18" charset="0"/>
              <a:cs typeface="Times New Roman" panose="02020603050405020304" pitchFamily="18" charset="0"/>
            </a:endParaRPr>
          </a:p>
        </p:txBody>
      </p:sp>
      <p:sp>
        <p:nvSpPr>
          <p:cNvPr id="9" name="CuadroTexto 8">
            <a:extLst>
              <a:ext uri="{FF2B5EF4-FFF2-40B4-BE49-F238E27FC236}">
                <a16:creationId xmlns:a16="http://schemas.microsoft.com/office/drawing/2014/main" id="{DF438D83-22C8-A736-473F-D58C24A3DB99}"/>
              </a:ext>
            </a:extLst>
          </p:cNvPr>
          <p:cNvSpPr txBox="1"/>
          <p:nvPr/>
        </p:nvSpPr>
        <p:spPr>
          <a:xfrm>
            <a:off x="3667119" y="2209047"/>
            <a:ext cx="1490670" cy="246221"/>
          </a:xfrm>
          <a:prstGeom prst="rect">
            <a:avLst/>
          </a:prstGeom>
          <a:noFill/>
        </p:spPr>
        <p:txBody>
          <a:bodyPr wrap="square" rtlCol="0">
            <a:spAutoFit/>
          </a:bodyPr>
          <a:lstStyle/>
          <a:p>
            <a:r>
              <a:rPr lang="es-ES" sz="1000" dirty="0">
                <a:solidFill>
                  <a:srgbClr val="0070C0"/>
                </a:solidFill>
                <a:latin typeface="Times New Roman" panose="02020603050405020304" pitchFamily="18" charset="0"/>
                <a:cs typeface="Times New Roman" panose="02020603050405020304" pitchFamily="18" charset="0"/>
              </a:rPr>
              <a:t> Competencias esenciales</a:t>
            </a:r>
            <a:endParaRPr lang="es-MX" sz="1000" dirty="0">
              <a:solidFill>
                <a:srgbClr val="0070C0"/>
              </a:solidFill>
              <a:latin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9E431EAA-F75B-8400-928A-A690C04826DC}"/>
              </a:ext>
            </a:extLst>
          </p:cNvPr>
          <p:cNvSpPr txBox="1"/>
          <p:nvPr/>
        </p:nvSpPr>
        <p:spPr>
          <a:xfrm>
            <a:off x="3667119" y="2992186"/>
            <a:ext cx="1647831" cy="246221"/>
          </a:xfrm>
          <a:prstGeom prst="rect">
            <a:avLst/>
          </a:prstGeom>
          <a:noFill/>
        </p:spPr>
        <p:txBody>
          <a:bodyPr wrap="square" rtlCol="0">
            <a:spAutoFit/>
          </a:bodyPr>
          <a:lstStyle/>
          <a:p>
            <a:r>
              <a:rPr lang="es-ES" sz="1000" dirty="0">
                <a:solidFill>
                  <a:srgbClr val="0070C0"/>
                </a:solidFill>
                <a:latin typeface="Times New Roman" panose="02020603050405020304" pitchFamily="18" charset="0"/>
                <a:cs typeface="Times New Roman" panose="02020603050405020304" pitchFamily="18" charset="0"/>
              </a:rPr>
              <a:t>Habilidades interpersonales</a:t>
            </a:r>
            <a:endParaRPr lang="es-MX" sz="1000" dirty="0">
              <a:solidFill>
                <a:srgbClr val="0070C0"/>
              </a:solidFill>
              <a:latin typeface="Times New Roman" panose="02020603050405020304" pitchFamily="18" charset="0"/>
              <a:cs typeface="Times New Roman" panose="02020603050405020304" pitchFamily="18" charset="0"/>
            </a:endParaRPr>
          </a:p>
        </p:txBody>
      </p:sp>
      <p:sp>
        <p:nvSpPr>
          <p:cNvPr id="14" name="Abrir llave 13">
            <a:extLst>
              <a:ext uri="{FF2B5EF4-FFF2-40B4-BE49-F238E27FC236}">
                <a16:creationId xmlns:a16="http://schemas.microsoft.com/office/drawing/2014/main" id="{0930DD8B-9301-0D8D-7F0E-4F53BDC52155}"/>
              </a:ext>
            </a:extLst>
          </p:cNvPr>
          <p:cNvSpPr/>
          <p:nvPr/>
        </p:nvSpPr>
        <p:spPr>
          <a:xfrm>
            <a:off x="5219712" y="1270783"/>
            <a:ext cx="257170" cy="506373"/>
          </a:xfrm>
          <a:prstGeom prst="leftBrace">
            <a:avLst/>
          </a:prstGeom>
          <a:noFill/>
          <a:ln>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5" name="CuadroTexto 14">
            <a:extLst>
              <a:ext uri="{FF2B5EF4-FFF2-40B4-BE49-F238E27FC236}">
                <a16:creationId xmlns:a16="http://schemas.microsoft.com/office/drawing/2014/main" id="{1F6043ED-AD3E-F82B-98F8-300995F199C3}"/>
              </a:ext>
            </a:extLst>
          </p:cNvPr>
          <p:cNvSpPr txBox="1"/>
          <p:nvPr/>
        </p:nvSpPr>
        <p:spPr>
          <a:xfrm>
            <a:off x="5434021" y="1223159"/>
            <a:ext cx="6410313"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Persona asignada para liderar el equipo responsable de alcanzar los objetivos del proyecto, su rol es diferente al de un gerente funcional u operacional. El director de proyecto es el nexo de unión entre la estrategia de la organización y el equipo, el rol del director del proyecto se está volviendo cada vez más estratégico</a:t>
            </a:r>
            <a:endParaRPr lang="es-MX" sz="1000" dirty="0">
              <a:latin typeface="Times New Roman" panose="02020603050405020304" pitchFamily="18" charset="0"/>
              <a:cs typeface="Times New Roman" panose="02020603050405020304" pitchFamily="18" charset="0"/>
            </a:endParaRPr>
          </a:p>
        </p:txBody>
      </p:sp>
      <p:sp>
        <p:nvSpPr>
          <p:cNvPr id="16" name="Abrir llave 15">
            <a:extLst>
              <a:ext uri="{FF2B5EF4-FFF2-40B4-BE49-F238E27FC236}">
                <a16:creationId xmlns:a16="http://schemas.microsoft.com/office/drawing/2014/main" id="{6F6B6324-AE95-D39C-E5E0-5F70912304E5}"/>
              </a:ext>
            </a:extLst>
          </p:cNvPr>
          <p:cNvSpPr/>
          <p:nvPr/>
        </p:nvSpPr>
        <p:spPr>
          <a:xfrm>
            <a:off x="5219712" y="1871061"/>
            <a:ext cx="257170" cy="939554"/>
          </a:xfrm>
          <a:prstGeom prst="leftBrace">
            <a:avLst/>
          </a:prstGeom>
          <a:noFill/>
          <a:ln>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7" name="CuadroTexto 16">
            <a:extLst>
              <a:ext uri="{FF2B5EF4-FFF2-40B4-BE49-F238E27FC236}">
                <a16:creationId xmlns:a16="http://schemas.microsoft.com/office/drawing/2014/main" id="{20AF3CB8-B583-CB16-9FFD-11628D16864C}"/>
              </a:ext>
            </a:extLst>
          </p:cNvPr>
          <p:cNvSpPr txBox="1"/>
          <p:nvPr/>
        </p:nvSpPr>
        <p:spPr>
          <a:xfrm>
            <a:off x="5434022" y="1921582"/>
            <a:ext cx="1104898" cy="246221"/>
          </a:xfrm>
          <a:prstGeom prst="rect">
            <a:avLst/>
          </a:prstGeom>
          <a:noFill/>
        </p:spPr>
        <p:txBody>
          <a:bodyPr wrap="square" rtlCol="0">
            <a:spAutoFit/>
          </a:bodyPr>
          <a:lstStyle/>
          <a:p>
            <a:r>
              <a:rPr lang="es-ES" sz="1000" dirty="0">
                <a:solidFill>
                  <a:srgbClr val="0070C0"/>
                </a:solidFill>
                <a:latin typeface="Times New Roman" panose="02020603050405020304" pitchFamily="18" charset="0"/>
                <a:cs typeface="Times New Roman" panose="02020603050405020304" pitchFamily="18" charset="0"/>
              </a:rPr>
              <a:t>Conocimiento</a:t>
            </a:r>
            <a:endParaRPr lang="es-MX" sz="1000" dirty="0">
              <a:solidFill>
                <a:srgbClr val="0070C0"/>
              </a:solidFill>
              <a:latin typeface="Times New Roman" panose="02020603050405020304" pitchFamily="18" charset="0"/>
              <a:cs typeface="Times New Roman" panose="02020603050405020304" pitchFamily="18" charset="0"/>
            </a:endParaRPr>
          </a:p>
        </p:txBody>
      </p:sp>
      <p:sp>
        <p:nvSpPr>
          <p:cNvPr id="18" name="CuadroTexto 17">
            <a:extLst>
              <a:ext uri="{FF2B5EF4-FFF2-40B4-BE49-F238E27FC236}">
                <a16:creationId xmlns:a16="http://schemas.microsoft.com/office/drawing/2014/main" id="{E15F5F7D-7978-38EE-1CD5-B7D334681A01}"/>
              </a:ext>
            </a:extLst>
          </p:cNvPr>
          <p:cNvSpPr txBox="1"/>
          <p:nvPr/>
        </p:nvSpPr>
        <p:spPr>
          <a:xfrm>
            <a:off x="5434021" y="2252513"/>
            <a:ext cx="1104898" cy="246221"/>
          </a:xfrm>
          <a:prstGeom prst="rect">
            <a:avLst/>
          </a:prstGeom>
          <a:noFill/>
        </p:spPr>
        <p:txBody>
          <a:bodyPr wrap="square" rtlCol="0">
            <a:spAutoFit/>
          </a:bodyPr>
          <a:lstStyle/>
          <a:p>
            <a:r>
              <a:rPr lang="es-ES" sz="1000" dirty="0">
                <a:solidFill>
                  <a:srgbClr val="0070C0"/>
                </a:solidFill>
                <a:latin typeface="Times New Roman" panose="02020603050405020304" pitchFamily="18" charset="0"/>
                <a:cs typeface="Times New Roman" panose="02020603050405020304" pitchFamily="18" charset="0"/>
              </a:rPr>
              <a:t>Desempeño</a:t>
            </a:r>
            <a:endParaRPr lang="es-MX" sz="1000" dirty="0">
              <a:solidFill>
                <a:srgbClr val="0070C0"/>
              </a:solidFill>
              <a:latin typeface="Times New Roman" panose="02020603050405020304" pitchFamily="18" charset="0"/>
              <a:cs typeface="Times New Roman" panose="02020603050405020304" pitchFamily="18" charset="0"/>
            </a:endParaRPr>
          </a:p>
        </p:txBody>
      </p:sp>
      <p:sp>
        <p:nvSpPr>
          <p:cNvPr id="23" name="CuadroTexto 22">
            <a:extLst>
              <a:ext uri="{FF2B5EF4-FFF2-40B4-BE49-F238E27FC236}">
                <a16:creationId xmlns:a16="http://schemas.microsoft.com/office/drawing/2014/main" id="{E50BFE46-0CD0-3277-F152-40C5825887C7}"/>
              </a:ext>
            </a:extLst>
          </p:cNvPr>
          <p:cNvSpPr txBox="1"/>
          <p:nvPr/>
        </p:nvSpPr>
        <p:spPr>
          <a:xfrm>
            <a:off x="5434021" y="2564394"/>
            <a:ext cx="1104898" cy="246221"/>
          </a:xfrm>
          <a:prstGeom prst="rect">
            <a:avLst/>
          </a:prstGeom>
          <a:noFill/>
        </p:spPr>
        <p:txBody>
          <a:bodyPr wrap="square" rtlCol="0">
            <a:spAutoFit/>
          </a:bodyPr>
          <a:lstStyle/>
          <a:p>
            <a:r>
              <a:rPr lang="es-ES" sz="1000" dirty="0">
                <a:solidFill>
                  <a:srgbClr val="0070C0"/>
                </a:solidFill>
                <a:latin typeface="Times New Roman" panose="02020603050405020304" pitchFamily="18" charset="0"/>
                <a:cs typeface="Times New Roman" panose="02020603050405020304" pitchFamily="18" charset="0"/>
              </a:rPr>
              <a:t>Personal</a:t>
            </a:r>
            <a:endParaRPr lang="es-MX" sz="1000" dirty="0">
              <a:solidFill>
                <a:srgbClr val="0070C0"/>
              </a:solidFill>
              <a:latin typeface="Times New Roman" panose="02020603050405020304" pitchFamily="18" charset="0"/>
              <a:cs typeface="Times New Roman" panose="02020603050405020304" pitchFamily="18" charset="0"/>
            </a:endParaRPr>
          </a:p>
        </p:txBody>
      </p:sp>
      <p:sp>
        <p:nvSpPr>
          <p:cNvPr id="24" name="Abrir llave 23">
            <a:extLst>
              <a:ext uri="{FF2B5EF4-FFF2-40B4-BE49-F238E27FC236}">
                <a16:creationId xmlns:a16="http://schemas.microsoft.com/office/drawing/2014/main" id="{09B4A10C-89A7-6079-E88D-D0EDF8B479D0}"/>
              </a:ext>
            </a:extLst>
          </p:cNvPr>
          <p:cNvSpPr/>
          <p:nvPr/>
        </p:nvSpPr>
        <p:spPr>
          <a:xfrm>
            <a:off x="6281750" y="1910908"/>
            <a:ext cx="257170" cy="275945"/>
          </a:xfrm>
          <a:prstGeom prst="leftBrace">
            <a:avLst/>
          </a:prstGeom>
          <a:noFill/>
          <a:ln>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5" name="CuadroTexto 24">
            <a:extLst>
              <a:ext uri="{FF2B5EF4-FFF2-40B4-BE49-F238E27FC236}">
                <a16:creationId xmlns:a16="http://schemas.microsoft.com/office/drawing/2014/main" id="{FF774489-0729-6851-94EC-43565D4C1263}"/>
              </a:ext>
            </a:extLst>
          </p:cNvPr>
          <p:cNvSpPr txBox="1"/>
          <p:nvPr/>
        </p:nvSpPr>
        <p:spPr>
          <a:xfrm>
            <a:off x="6453194" y="1929373"/>
            <a:ext cx="5391140" cy="230832"/>
          </a:xfrm>
          <a:prstGeom prst="rect">
            <a:avLst/>
          </a:prstGeom>
          <a:noFill/>
        </p:spPr>
        <p:txBody>
          <a:bodyPr wrap="square" rtlCol="0">
            <a:spAutoFit/>
          </a:bodyPr>
          <a:lstStyle/>
          <a:p>
            <a:pPr algn="just"/>
            <a:r>
              <a:rPr lang="es-ES" sz="900" dirty="0">
                <a:latin typeface="Times New Roman" panose="02020603050405020304" pitchFamily="18" charset="0"/>
                <a:cs typeface="Times New Roman" panose="02020603050405020304" pitchFamily="18" charset="0"/>
              </a:rPr>
              <a:t>Lo que el director de proyecto sabe sobre la dirección de proyectos </a:t>
            </a:r>
            <a:endParaRPr lang="es-MX" sz="900" dirty="0">
              <a:latin typeface="Times New Roman" panose="02020603050405020304" pitchFamily="18" charset="0"/>
              <a:cs typeface="Times New Roman" panose="02020603050405020304" pitchFamily="18" charset="0"/>
            </a:endParaRPr>
          </a:p>
        </p:txBody>
      </p:sp>
      <p:sp>
        <p:nvSpPr>
          <p:cNvPr id="26" name="Abrir llave 25">
            <a:extLst>
              <a:ext uri="{FF2B5EF4-FFF2-40B4-BE49-F238E27FC236}">
                <a16:creationId xmlns:a16="http://schemas.microsoft.com/office/drawing/2014/main" id="{DBABBF01-246C-A595-8F51-450EAB0E9C8B}"/>
              </a:ext>
            </a:extLst>
          </p:cNvPr>
          <p:cNvSpPr/>
          <p:nvPr/>
        </p:nvSpPr>
        <p:spPr>
          <a:xfrm>
            <a:off x="6281750" y="2242988"/>
            <a:ext cx="257170" cy="275945"/>
          </a:xfrm>
          <a:prstGeom prst="leftBrace">
            <a:avLst/>
          </a:prstGeom>
          <a:noFill/>
          <a:ln>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7" name="CuadroTexto 26">
            <a:extLst>
              <a:ext uri="{FF2B5EF4-FFF2-40B4-BE49-F238E27FC236}">
                <a16:creationId xmlns:a16="http://schemas.microsoft.com/office/drawing/2014/main" id="{3FA402F8-DEFE-FE73-0788-3EE96C2BAC68}"/>
              </a:ext>
            </a:extLst>
          </p:cNvPr>
          <p:cNvSpPr txBox="1"/>
          <p:nvPr/>
        </p:nvSpPr>
        <p:spPr>
          <a:xfrm>
            <a:off x="6453194" y="2261453"/>
            <a:ext cx="5391140" cy="230832"/>
          </a:xfrm>
          <a:prstGeom prst="rect">
            <a:avLst/>
          </a:prstGeom>
          <a:noFill/>
        </p:spPr>
        <p:txBody>
          <a:bodyPr wrap="square" rtlCol="0">
            <a:spAutoFit/>
          </a:bodyPr>
          <a:lstStyle/>
          <a:p>
            <a:pPr algn="just"/>
            <a:r>
              <a:rPr lang="es-ES" sz="900" dirty="0">
                <a:latin typeface="Times New Roman" panose="02020603050405020304" pitchFamily="18" charset="0"/>
                <a:cs typeface="Times New Roman" panose="02020603050405020304" pitchFamily="18" charset="0"/>
              </a:rPr>
              <a:t>Lo que el director de proyecto es capaz de hacer o lograr con sus conocimientos </a:t>
            </a:r>
            <a:endParaRPr lang="es-MX" sz="900" dirty="0">
              <a:latin typeface="Times New Roman" panose="02020603050405020304" pitchFamily="18" charset="0"/>
              <a:cs typeface="Times New Roman" panose="02020603050405020304" pitchFamily="18" charset="0"/>
            </a:endParaRPr>
          </a:p>
        </p:txBody>
      </p:sp>
      <p:sp>
        <p:nvSpPr>
          <p:cNvPr id="28" name="Abrir llave 27">
            <a:extLst>
              <a:ext uri="{FF2B5EF4-FFF2-40B4-BE49-F238E27FC236}">
                <a16:creationId xmlns:a16="http://schemas.microsoft.com/office/drawing/2014/main" id="{B92A7A07-AA18-1138-010C-B7E42AFB16AA}"/>
              </a:ext>
            </a:extLst>
          </p:cNvPr>
          <p:cNvSpPr/>
          <p:nvPr/>
        </p:nvSpPr>
        <p:spPr>
          <a:xfrm>
            <a:off x="6281750" y="2576696"/>
            <a:ext cx="257170" cy="275945"/>
          </a:xfrm>
          <a:prstGeom prst="leftBrace">
            <a:avLst/>
          </a:prstGeom>
          <a:noFill/>
          <a:ln>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9" name="CuadroTexto 28">
            <a:extLst>
              <a:ext uri="{FF2B5EF4-FFF2-40B4-BE49-F238E27FC236}">
                <a16:creationId xmlns:a16="http://schemas.microsoft.com/office/drawing/2014/main" id="{EDEBAC97-5837-08D4-7928-FE944E8A15FD}"/>
              </a:ext>
            </a:extLst>
          </p:cNvPr>
          <p:cNvSpPr txBox="1"/>
          <p:nvPr/>
        </p:nvSpPr>
        <p:spPr>
          <a:xfrm>
            <a:off x="6453194" y="2595161"/>
            <a:ext cx="5391140" cy="230832"/>
          </a:xfrm>
          <a:prstGeom prst="rect">
            <a:avLst/>
          </a:prstGeom>
          <a:noFill/>
        </p:spPr>
        <p:txBody>
          <a:bodyPr wrap="square" rtlCol="0">
            <a:spAutoFit/>
          </a:bodyPr>
          <a:lstStyle/>
          <a:p>
            <a:pPr algn="just"/>
            <a:r>
              <a:rPr lang="es-ES" sz="900" dirty="0">
                <a:latin typeface="Times New Roman" panose="02020603050405020304" pitchFamily="18" charset="0"/>
                <a:cs typeface="Times New Roman" panose="02020603050405020304" pitchFamily="18" charset="0"/>
              </a:rPr>
              <a:t>La manera en que se comporta el director, incluyendo liderazgo y actitudes.</a:t>
            </a:r>
            <a:endParaRPr lang="es-MX" sz="900" dirty="0">
              <a:latin typeface="Times New Roman" panose="02020603050405020304" pitchFamily="18" charset="0"/>
              <a:cs typeface="Times New Roman" panose="02020603050405020304" pitchFamily="18" charset="0"/>
            </a:endParaRPr>
          </a:p>
        </p:txBody>
      </p:sp>
      <p:sp>
        <p:nvSpPr>
          <p:cNvPr id="30" name="Abrir llave 29">
            <a:extLst>
              <a:ext uri="{FF2B5EF4-FFF2-40B4-BE49-F238E27FC236}">
                <a16:creationId xmlns:a16="http://schemas.microsoft.com/office/drawing/2014/main" id="{EFACC728-93BD-AE21-2E4D-0B6A8B60D7AD}"/>
              </a:ext>
            </a:extLst>
          </p:cNvPr>
          <p:cNvSpPr/>
          <p:nvPr/>
        </p:nvSpPr>
        <p:spPr>
          <a:xfrm>
            <a:off x="5210194" y="2870963"/>
            <a:ext cx="257170" cy="506373"/>
          </a:xfrm>
          <a:prstGeom prst="leftBrace">
            <a:avLst/>
          </a:prstGeom>
          <a:noFill/>
          <a:ln>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31" name="CuadroTexto 30">
            <a:extLst>
              <a:ext uri="{FF2B5EF4-FFF2-40B4-BE49-F238E27FC236}">
                <a16:creationId xmlns:a16="http://schemas.microsoft.com/office/drawing/2014/main" id="{C19EE026-D119-E621-CC39-B5E84AC3A739}"/>
              </a:ext>
            </a:extLst>
          </p:cNvPr>
          <p:cNvSpPr txBox="1"/>
          <p:nvPr/>
        </p:nvSpPr>
        <p:spPr>
          <a:xfrm>
            <a:off x="5386398" y="2844513"/>
            <a:ext cx="6410313"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Liderazgo, trabajo en equipo, motivación, comunicación, influencia y toma de decisiones; también se incluyen negociación, generación de confianza, gestión de conflictos y orientación. Un director de proyecto eficaz necesita un equilibrio entre sus habilidades éticas, interpersonales y conceptuales</a:t>
            </a:r>
            <a:endParaRPr lang="es-MX" sz="1000" dirty="0">
              <a:latin typeface="Times New Roman" panose="02020603050405020304" pitchFamily="18" charset="0"/>
              <a:cs typeface="Times New Roman" panose="02020603050405020304" pitchFamily="18" charset="0"/>
            </a:endParaRPr>
          </a:p>
        </p:txBody>
      </p:sp>
      <p:sp>
        <p:nvSpPr>
          <p:cNvPr id="2" name="CuadroTexto 1">
            <a:extLst>
              <a:ext uri="{FF2B5EF4-FFF2-40B4-BE49-F238E27FC236}">
                <a16:creationId xmlns:a16="http://schemas.microsoft.com/office/drawing/2014/main" id="{49384BCD-358B-7FAA-079B-1A5CBE236944}"/>
              </a:ext>
            </a:extLst>
          </p:cNvPr>
          <p:cNvSpPr txBox="1"/>
          <p:nvPr/>
        </p:nvSpPr>
        <p:spPr>
          <a:xfrm>
            <a:off x="3667119" y="3806824"/>
            <a:ext cx="1490670" cy="246221"/>
          </a:xfrm>
          <a:prstGeom prst="rect">
            <a:avLst/>
          </a:prstGeom>
          <a:noFill/>
        </p:spPr>
        <p:txBody>
          <a:bodyPr wrap="square" rtlCol="0">
            <a:spAutoFit/>
          </a:bodyPr>
          <a:lstStyle/>
          <a:p>
            <a:r>
              <a:rPr lang="es-ES" sz="1000" dirty="0">
                <a:solidFill>
                  <a:srgbClr val="FFFF00"/>
                </a:solidFill>
                <a:latin typeface="Times New Roman" panose="02020603050405020304" pitchFamily="18" charset="0"/>
                <a:cs typeface="Times New Roman" panose="02020603050405020304" pitchFamily="18" charset="0"/>
              </a:rPr>
              <a:t>El estándar como guía</a:t>
            </a:r>
            <a:endParaRPr lang="es-MX" sz="1000" dirty="0">
              <a:solidFill>
                <a:srgbClr val="FFFF00"/>
              </a:solidFill>
              <a:latin typeface="Times New Roman" panose="02020603050405020304" pitchFamily="18" charset="0"/>
              <a:cs typeface="Times New Roman" panose="02020603050405020304" pitchFamily="18" charset="0"/>
            </a:endParaRPr>
          </a:p>
        </p:txBody>
      </p:sp>
      <p:sp>
        <p:nvSpPr>
          <p:cNvPr id="11" name="Abrir llave 10">
            <a:extLst>
              <a:ext uri="{FF2B5EF4-FFF2-40B4-BE49-F238E27FC236}">
                <a16:creationId xmlns:a16="http://schemas.microsoft.com/office/drawing/2014/main" id="{DAF7D662-5A73-8E3A-B026-139DFC0CFB5C}"/>
              </a:ext>
            </a:extLst>
          </p:cNvPr>
          <p:cNvSpPr/>
          <p:nvPr/>
        </p:nvSpPr>
        <p:spPr>
          <a:xfrm>
            <a:off x="4962553" y="4302358"/>
            <a:ext cx="257170" cy="1104670"/>
          </a:xfrm>
          <a:prstGeom prst="leftBrace">
            <a:avLst>
              <a:gd name="adj1" fmla="val 8333"/>
              <a:gd name="adj2" fmla="val 16372"/>
            </a:avLst>
          </a:prstGeom>
          <a:noFill/>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19" name="CuadroTexto 18">
            <a:extLst>
              <a:ext uri="{FF2B5EF4-FFF2-40B4-BE49-F238E27FC236}">
                <a16:creationId xmlns:a16="http://schemas.microsoft.com/office/drawing/2014/main" id="{A744DB19-8C20-DA4B-5284-D40FF4BE0AA6}"/>
              </a:ext>
            </a:extLst>
          </p:cNvPr>
          <p:cNvSpPr txBox="1"/>
          <p:nvPr/>
        </p:nvSpPr>
        <p:spPr>
          <a:xfrm>
            <a:off x="5081609" y="4313197"/>
            <a:ext cx="2090716" cy="1015663"/>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Este estándar se interrelaciona con otras disciplinas de la dirección de proyectos como la dirección de programas y de portafolio. Se pueden consultar otros estándares para información adicional, como </a:t>
            </a:r>
            <a:endParaRPr lang="es-MX" sz="1000" dirty="0">
              <a:latin typeface="Times New Roman" panose="02020603050405020304" pitchFamily="18" charset="0"/>
              <a:cs typeface="Times New Roman" panose="02020603050405020304" pitchFamily="18" charset="0"/>
            </a:endParaRPr>
          </a:p>
        </p:txBody>
      </p:sp>
      <p:sp>
        <p:nvSpPr>
          <p:cNvPr id="20" name="Abrir llave 19">
            <a:extLst>
              <a:ext uri="{FF2B5EF4-FFF2-40B4-BE49-F238E27FC236}">
                <a16:creationId xmlns:a16="http://schemas.microsoft.com/office/drawing/2014/main" id="{CE1101BF-DADA-5ACB-AF53-42923A01E03F}"/>
              </a:ext>
            </a:extLst>
          </p:cNvPr>
          <p:cNvSpPr/>
          <p:nvPr/>
        </p:nvSpPr>
        <p:spPr>
          <a:xfrm>
            <a:off x="4953024" y="3684678"/>
            <a:ext cx="257170" cy="506373"/>
          </a:xfrm>
          <a:prstGeom prst="leftBrace">
            <a:avLst/>
          </a:prstGeom>
          <a:noFill/>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21" name="CuadroTexto 20">
            <a:extLst>
              <a:ext uri="{FF2B5EF4-FFF2-40B4-BE49-F238E27FC236}">
                <a16:creationId xmlns:a16="http://schemas.microsoft.com/office/drawing/2014/main" id="{AC3CCB1B-0F2E-99F8-6CB7-8DF18D14B6EC}"/>
              </a:ext>
            </a:extLst>
          </p:cNvPr>
          <p:cNvSpPr txBox="1"/>
          <p:nvPr/>
        </p:nvSpPr>
        <p:spPr>
          <a:xfrm>
            <a:off x="5138759" y="3665628"/>
            <a:ext cx="6410313" cy="553998"/>
          </a:xfrm>
          <a:prstGeom prst="rect">
            <a:avLst/>
          </a:prstGeom>
          <a:noFill/>
        </p:spPr>
        <p:txBody>
          <a:bodyPr wrap="square" rtlCol="0">
            <a:spAutoFit/>
          </a:bodyPr>
          <a:lstStyle/>
          <a:p>
            <a:pPr algn="just"/>
            <a:r>
              <a:rPr lang="es-ES" sz="1000" dirty="0">
                <a:latin typeface="Times New Roman" panose="02020603050405020304" pitchFamily="18" charset="0"/>
                <a:cs typeface="Times New Roman" panose="02020603050405020304" pitchFamily="18" charset="0"/>
              </a:rPr>
              <a:t>La Guía del PMBOK® es el estándar para dirigir la mayoría de los proyectos en diversas industrias. Describe los procesos de la dirección de proyectos para un resultado más exitoso, el estándar es específico para proyectos individuales y sus procesos de dirección.</a:t>
            </a:r>
            <a:endParaRPr lang="es-MX" sz="1000" dirty="0">
              <a:latin typeface="Times New Roman" panose="02020603050405020304" pitchFamily="18" charset="0"/>
              <a:cs typeface="Times New Roman" panose="02020603050405020304" pitchFamily="18" charset="0"/>
            </a:endParaRPr>
          </a:p>
        </p:txBody>
      </p:sp>
      <p:sp>
        <p:nvSpPr>
          <p:cNvPr id="33" name="CuadroTexto 32">
            <a:extLst>
              <a:ext uri="{FF2B5EF4-FFF2-40B4-BE49-F238E27FC236}">
                <a16:creationId xmlns:a16="http://schemas.microsoft.com/office/drawing/2014/main" id="{64145FED-FB48-6076-A105-FE065F1CB250}"/>
              </a:ext>
            </a:extLst>
          </p:cNvPr>
          <p:cNvSpPr txBox="1"/>
          <p:nvPr/>
        </p:nvSpPr>
        <p:spPr>
          <a:xfrm>
            <a:off x="3667119" y="4302359"/>
            <a:ext cx="1490670" cy="400110"/>
          </a:xfrm>
          <a:prstGeom prst="rect">
            <a:avLst/>
          </a:prstGeom>
          <a:noFill/>
        </p:spPr>
        <p:txBody>
          <a:bodyPr wrap="square" rtlCol="0">
            <a:spAutoFit/>
          </a:bodyPr>
          <a:lstStyle/>
          <a:p>
            <a:r>
              <a:rPr lang="es-ES" sz="1000" dirty="0">
                <a:solidFill>
                  <a:srgbClr val="FFFF00"/>
                </a:solidFill>
                <a:latin typeface="Times New Roman" panose="02020603050405020304" pitchFamily="18" charset="0"/>
                <a:cs typeface="Times New Roman" panose="02020603050405020304" pitchFamily="18" charset="0"/>
              </a:rPr>
              <a:t>Interrelación con otros estándares</a:t>
            </a:r>
            <a:endParaRPr lang="es-MX" sz="1000" dirty="0">
              <a:solidFill>
                <a:srgbClr val="FFFF00"/>
              </a:solidFill>
              <a:latin typeface="Times New Roman" panose="02020603050405020304" pitchFamily="18" charset="0"/>
              <a:cs typeface="Times New Roman" panose="02020603050405020304" pitchFamily="18" charset="0"/>
            </a:endParaRPr>
          </a:p>
        </p:txBody>
      </p:sp>
      <p:sp>
        <p:nvSpPr>
          <p:cNvPr id="34" name="Abrir llave 33">
            <a:extLst>
              <a:ext uri="{FF2B5EF4-FFF2-40B4-BE49-F238E27FC236}">
                <a16:creationId xmlns:a16="http://schemas.microsoft.com/office/drawing/2014/main" id="{874C9412-5C06-BB8C-AF36-6CBF60FD875F}"/>
              </a:ext>
            </a:extLst>
          </p:cNvPr>
          <p:cNvSpPr/>
          <p:nvPr/>
        </p:nvSpPr>
        <p:spPr>
          <a:xfrm>
            <a:off x="7172325" y="4345129"/>
            <a:ext cx="257170" cy="275945"/>
          </a:xfrm>
          <a:prstGeom prst="leftBrace">
            <a:avLst/>
          </a:prstGeom>
          <a:noFill/>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35" name="Abrir llave 34">
            <a:extLst>
              <a:ext uri="{FF2B5EF4-FFF2-40B4-BE49-F238E27FC236}">
                <a16:creationId xmlns:a16="http://schemas.microsoft.com/office/drawing/2014/main" id="{4BB19433-6516-9ED6-80FC-8BFAA588406B}"/>
              </a:ext>
            </a:extLst>
          </p:cNvPr>
          <p:cNvSpPr/>
          <p:nvPr/>
        </p:nvSpPr>
        <p:spPr>
          <a:xfrm>
            <a:off x="7162796" y="4768168"/>
            <a:ext cx="257170" cy="404956"/>
          </a:xfrm>
          <a:prstGeom prst="leftBrace">
            <a:avLst/>
          </a:prstGeom>
          <a:noFill/>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36" name="CuadroTexto 35">
            <a:extLst>
              <a:ext uri="{FF2B5EF4-FFF2-40B4-BE49-F238E27FC236}">
                <a16:creationId xmlns:a16="http://schemas.microsoft.com/office/drawing/2014/main" id="{06CD1F0F-968C-69D4-65EC-5874191D4257}"/>
              </a:ext>
            </a:extLst>
          </p:cNvPr>
          <p:cNvSpPr txBox="1"/>
          <p:nvPr/>
        </p:nvSpPr>
        <p:spPr>
          <a:xfrm>
            <a:off x="7291381" y="4395661"/>
            <a:ext cx="5391140" cy="230832"/>
          </a:xfrm>
          <a:prstGeom prst="rect">
            <a:avLst/>
          </a:prstGeom>
          <a:noFill/>
        </p:spPr>
        <p:txBody>
          <a:bodyPr wrap="square" rtlCol="0">
            <a:spAutoFit/>
          </a:bodyPr>
          <a:lstStyle/>
          <a:p>
            <a:pPr algn="just"/>
            <a:r>
              <a:rPr lang="es-ES" sz="900" dirty="0">
                <a:latin typeface="Times New Roman" panose="02020603050405020304" pitchFamily="18" charset="0"/>
                <a:cs typeface="Times New Roman" panose="02020603050405020304" pitchFamily="18" charset="0"/>
              </a:rPr>
              <a:t>El Estándar para la Dirección de Programas y El Estándar para la Dirección de Portafolios </a:t>
            </a:r>
            <a:endParaRPr lang="es-MX" sz="900" dirty="0">
              <a:latin typeface="Times New Roman" panose="02020603050405020304" pitchFamily="18" charset="0"/>
              <a:cs typeface="Times New Roman" panose="02020603050405020304" pitchFamily="18" charset="0"/>
            </a:endParaRPr>
          </a:p>
        </p:txBody>
      </p:sp>
      <p:sp>
        <p:nvSpPr>
          <p:cNvPr id="37" name="CuadroTexto 36">
            <a:extLst>
              <a:ext uri="{FF2B5EF4-FFF2-40B4-BE49-F238E27FC236}">
                <a16:creationId xmlns:a16="http://schemas.microsoft.com/office/drawing/2014/main" id="{25CC06B8-1BC5-66E0-0201-6515DD4EE693}"/>
              </a:ext>
            </a:extLst>
          </p:cNvPr>
          <p:cNvSpPr txBox="1"/>
          <p:nvPr/>
        </p:nvSpPr>
        <p:spPr>
          <a:xfrm>
            <a:off x="7335100" y="4792954"/>
            <a:ext cx="4213972" cy="369332"/>
          </a:xfrm>
          <a:prstGeom prst="rect">
            <a:avLst/>
          </a:prstGeom>
          <a:noFill/>
        </p:spPr>
        <p:txBody>
          <a:bodyPr wrap="square" rtlCol="0">
            <a:spAutoFit/>
          </a:bodyPr>
          <a:lstStyle/>
          <a:p>
            <a:pPr algn="just"/>
            <a:r>
              <a:rPr lang="es-ES" sz="900" dirty="0">
                <a:latin typeface="Times New Roman" panose="02020603050405020304" pitchFamily="18" charset="0"/>
                <a:cs typeface="Times New Roman" panose="02020603050405020304" pitchFamily="18" charset="0"/>
              </a:rPr>
              <a:t>El Modelo de Madurez para la Dirección Organizacional de Proyectos (OPM3®) examina las capacidades de la empresa para la dirección de proyectos.</a:t>
            </a:r>
            <a:endParaRPr lang="es-MX"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1900522"/>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5e38577-c75d-405b-8341-6ee002fd10f3">
      <Terms xmlns="http://schemas.microsoft.com/office/infopath/2007/PartnerControls"/>
    </lcf76f155ced4ddcb4097134ff3c332f>
    <TaxCatchAll xmlns="2236d9cd-653c-46e7-b11b-38e0318339b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A529A51BA609764880BB0FC0708A5BFF" ma:contentTypeVersion="11" ma:contentTypeDescription="Crear nuevo documento." ma:contentTypeScope="" ma:versionID="04ffd97dc7a07f00f3e161ddc7ff8bd8">
  <xsd:schema xmlns:xsd="http://www.w3.org/2001/XMLSchema" xmlns:xs="http://www.w3.org/2001/XMLSchema" xmlns:p="http://schemas.microsoft.com/office/2006/metadata/properties" xmlns:ns2="75e38577-c75d-405b-8341-6ee002fd10f3" xmlns:ns3="2236d9cd-653c-46e7-b11b-38e0318339ba" targetNamespace="http://schemas.microsoft.com/office/2006/metadata/properties" ma:root="true" ma:fieldsID="fa6ec0a7579d741a5ec50af148b9a060" ns2:_="" ns3:_="">
    <xsd:import namespace="75e38577-c75d-405b-8341-6ee002fd10f3"/>
    <xsd:import namespace="2236d9cd-653c-46e7-b11b-38e0318339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e38577-c75d-405b-8341-6ee002fd10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2b61bc0c-9156-412f-b605-57ff87b11ec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36d9cd-653c-46e7-b11b-38e0318339b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832e8ca2-ee16-4fec-9553-7f7f3c70e82c}" ma:internalName="TaxCatchAll" ma:showField="CatchAllData" ma:web="2236d9cd-653c-46e7-b11b-38e0318339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242F25B-C9BB-40EA-A2BE-E51BBCA7CA3F}">
  <ds:schemaRefs>
    <ds:schemaRef ds:uri="http://schemas.microsoft.com/office/2006/metadata/properties"/>
    <ds:schemaRef ds:uri="http://www.w3.org/2000/xmlns/"/>
    <ds:schemaRef ds:uri="75e38577-c75d-405b-8341-6ee002fd10f3"/>
    <ds:schemaRef ds:uri="http://schemas.microsoft.com/office/infopath/2007/PartnerControls"/>
    <ds:schemaRef ds:uri="2236d9cd-653c-46e7-b11b-38e0318339ba"/>
    <ds:schemaRef ds:uri="http://www.w3.org/2001/XMLSchema-instance"/>
  </ds:schemaRefs>
</ds:datastoreItem>
</file>

<file path=customXml/itemProps2.xml><?xml version="1.0" encoding="utf-8"?>
<ds:datastoreItem xmlns:ds="http://schemas.openxmlformats.org/officeDocument/2006/customXml" ds:itemID="{97047F3B-BFA7-4E89-86C0-04444409F39E}">
  <ds:schemaRefs>
    <ds:schemaRef ds:uri="http://schemas.microsoft.com/sharepoint/v3/contenttype/forms"/>
  </ds:schemaRefs>
</ds:datastoreItem>
</file>

<file path=customXml/itemProps3.xml><?xml version="1.0" encoding="utf-8"?>
<ds:datastoreItem xmlns:ds="http://schemas.openxmlformats.org/officeDocument/2006/customXml" ds:itemID="{09A6905A-DE2A-44D8-B62C-BCC1C88D21D4}">
  <ds:schemaRefs>
    <ds:schemaRef ds:uri="http://schemas.microsoft.com/office/2006/metadata/contentType"/>
    <ds:schemaRef ds:uri="http://schemas.microsoft.com/office/2006/metadata/properties/metaAttributes"/>
    <ds:schemaRef ds:uri="http://www.w3.org/2000/xmlns/"/>
    <ds:schemaRef ds:uri="http://www.w3.org/2001/XMLSchema"/>
    <ds:schemaRef ds:uri="75e38577-c75d-405b-8341-6ee002fd10f3"/>
    <ds:schemaRef ds:uri="2236d9cd-653c-46e7-b11b-38e0318339ba"/>
  </ds:schemaRefs>
</ds:datastoreItem>
</file>

<file path=docProps/app.xml><?xml version="1.0" encoding="utf-8"?>
<Properties xmlns="http://schemas.openxmlformats.org/officeDocument/2006/extended-properties" xmlns:vt="http://schemas.openxmlformats.org/officeDocument/2006/docPropsVTypes">
  <Template>Office Theme</Template>
  <TotalTime>94</TotalTime>
  <Words>1273</Words>
  <Application>Microsoft Office PowerPoint</Application>
  <PresentationFormat>Panorámica</PresentationFormat>
  <Paragraphs>69</Paragraphs>
  <Slides>3</Slides>
  <Notes>0</Notes>
  <HiddenSlides>0</HiddenSlides>
  <MMClips>0</MMClips>
  <ScaleCrop>false</ScaleCrop>
  <HeadingPairs>
    <vt:vector size="4" baseType="variant">
      <vt:variant>
        <vt:lpstr>Tema</vt:lpstr>
      </vt:variant>
      <vt:variant>
        <vt:i4>1</vt:i4>
      </vt:variant>
      <vt:variant>
        <vt:lpstr>Títulos de diapositiva</vt:lpstr>
      </vt:variant>
      <vt:variant>
        <vt:i4>3</vt:i4>
      </vt:variant>
    </vt:vector>
  </HeadingPairs>
  <TitlesOfParts>
    <vt:vector size="4" baseType="lpstr">
      <vt:lpstr>Office Theme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Cristian Eduardo Solis Espinoza</dc:creator>
  <cp:lastModifiedBy>Cris Solis</cp:lastModifiedBy>
  <cp:revision>4</cp:revision>
  <dcterms:created xsi:type="dcterms:W3CDTF">2025-09-11T00:06:33Z</dcterms:created>
  <dcterms:modified xsi:type="dcterms:W3CDTF">2025-09-12T15:40:18Z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0x010100A529A51BA609764880BB0FC0708A5BFF</vt:lpwstr>
  </property>
  <property fmtid="{D5CDD505-2E9C-101B-9397-08002B2CF9AE}" pid="3" name="MediaServiceImageTags">
    <vt:lpwstr/>
  </property>
</Properties>
</file>